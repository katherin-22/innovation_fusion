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1" r:id="rId8"/>
    <p:sldId id="262" r:id="rId9"/>
    <p:sldId id="263" r:id="rId10"/>
    <p:sldId id="264" r:id="rId11"/>
    <p:sldId id="265" r:id="rId12"/>
    <p:sldId id="266" r:id="rId13"/>
    <p:sldId id="267" r:id="rId14"/>
    <p:sldId id="268" r:id="rId15"/>
    <p:sldId id="269" r:id="rId16"/>
    <p:sldId id="270" r:id="rId17"/>
  </p:sldIdLst>
  <p:sldSz cx="12192000" cy="6858000"/>
  <p:notesSz cx="6858000" cy="9144000"/>
  <p:embeddedFontLst>
    <p:embeddedFont>
      <p:font typeface="Work Sans" pitchFamily="2" charset="0"/>
      <p:regular r:id="rId19"/>
      <p:bold r:id="rId20"/>
      <p:italic r:id="rId21"/>
      <p:boldItalic r:id="rId22"/>
    </p:embeddedFont>
    <p:embeddedFont>
      <p:font typeface="Work Sans Light" pitchFamily="2" charset="0"/>
      <p:regular r:id="rId23"/>
      <p:bold r:id="rId24"/>
      <p:italic r:id="rId25"/>
      <p:boldItalic r:id="rId26"/>
    </p:embeddedFont>
    <p:embeddedFont>
      <p:font typeface="Work Sans Medium"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74" autoAdjust="0"/>
    <p:restoredTop sz="94660"/>
  </p:normalViewPr>
  <p:slideViewPr>
    <p:cSldViewPr snapToGrid="0">
      <p:cViewPr varScale="1">
        <p:scale>
          <a:sx n="62" d="100"/>
          <a:sy n="62" d="100"/>
        </p:scale>
        <p:origin x="66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1450608"/>
            <a:ext cx="8007900"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dirty="0" err="1">
                <a:solidFill>
                  <a:schemeClr val="lt1"/>
                </a:solidFill>
                <a:latin typeface="Work Sans Light"/>
                <a:sym typeface="Work Sans Light"/>
              </a:rPr>
              <a:t>Zéfiro</a:t>
            </a:r>
            <a:endParaRPr dirty="0"/>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077300"/>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Problemática Central:</a:t>
            </a:r>
            <a:endParaRPr sz="1600" b="1">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Objetivos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a:solidFill>
                  <a:schemeClr val="dk1"/>
                </a:solidFill>
                <a:latin typeface="Work Sans"/>
                <a:ea typeface="Work Sans"/>
                <a:cs typeface="Work Sans"/>
                <a:sym typeface="Work Sans"/>
              </a:rPr>
              <a:t>Justificación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Este proyecto es crucial porque Innovation Fusion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a:solidFill>
                  <a:schemeClr val="dk1"/>
                </a:solidFill>
                <a:latin typeface="Work Sans"/>
                <a:ea typeface="Work Sans"/>
                <a:cs typeface="Work Sans"/>
                <a:sym typeface="Work Sans"/>
              </a:rPr>
              <a:t>Alcance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a:solidFill>
                  <a:schemeClr val="dk1"/>
                </a:solidFill>
              </a:rPr>
              <a:t> </a:t>
            </a:r>
            <a:r>
              <a:rPr lang="es-MX" sz="1600" b="1">
                <a:solidFill>
                  <a:schemeClr val="dk1"/>
                </a:solidFill>
                <a:latin typeface="Work Sans"/>
                <a:ea typeface="Work Sans"/>
                <a:cs typeface="Work Sans"/>
                <a:sym typeface="Work Sans"/>
              </a:rPr>
              <a:t>Delimitación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151515" y="999678"/>
            <a:ext cx="6947700" cy="575538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lang="es-CO" sz="1600" dirty="0">
              <a:solidFill>
                <a:schemeClr val="dk1"/>
              </a:solidFill>
              <a:latin typeface="Work Sans Light"/>
              <a:ea typeface="Work Sans Light"/>
              <a:cs typeface="Work Sans Light"/>
              <a:sym typeface="Work Sans Light"/>
            </a:endParaRPr>
          </a:p>
          <a:p>
            <a:pPr marL="285750" indent="-285750">
              <a:buClr>
                <a:schemeClr val="dk1"/>
              </a:buClr>
              <a:buSzPts val="1600"/>
              <a:buFont typeface="Work Sans Light"/>
              <a:buChar char="•"/>
            </a:pPr>
            <a:r>
              <a:rPr lang="es-MX" sz="1600" dirty="0">
                <a:solidFill>
                  <a:schemeClr val="dk1"/>
                </a:solidFill>
                <a:latin typeface="Work Sans Light"/>
              </a:rPr>
              <a:t>Gestionar usuarios mediante registro, inicio de sesión y recuperación de contraseña, garantizando acceso seguro y controlado.</a:t>
            </a:r>
          </a:p>
          <a:p>
            <a:pPr>
              <a:buClr>
                <a:schemeClr val="dk1"/>
              </a:buClr>
              <a:buSzPts val="1600"/>
            </a:pPr>
            <a:endParaRPr lang="es-MX" sz="1600" dirty="0">
              <a:solidFill>
                <a:schemeClr val="dk1"/>
              </a:solidFill>
              <a:latin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los</a:t>
            </a:r>
            <a:r>
              <a:rPr lang="es-MX" sz="1600" dirty="0">
                <a:solidFill>
                  <a:schemeClr val="dk1"/>
                </a:solidFill>
                <a:latin typeface="Work Sans Light"/>
                <a:sym typeface="Work Sans Light"/>
              </a:rPr>
              <a:t> productos mediante registro, edición, consulta y eliminación, asegurando un control eficiente del inventario y del catálogo.</a:t>
            </a:r>
          </a:p>
          <a:p>
            <a:pPr marR="0" lvl="0" algn="l" rtl="0">
              <a:lnSpc>
                <a:spcPct val="100000"/>
              </a:lnSpc>
              <a:spcBef>
                <a:spcPts val="0"/>
              </a:spcBef>
              <a:spcAft>
                <a:spcPts val="0"/>
              </a:spcAft>
              <a:buClr>
                <a:schemeClr val="dk1"/>
              </a:buClr>
              <a:buSzPts val="1600"/>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las </a:t>
            </a:r>
            <a:r>
              <a:rPr lang="es-MX" sz="1600" dirty="0">
                <a:solidFill>
                  <a:schemeClr val="dk1"/>
                </a:solidFill>
                <a:latin typeface="Work Sans Light"/>
                <a:ea typeface="Work Sans Light"/>
                <a:cs typeface="Work Sans Light"/>
                <a:sym typeface="Work Sans Light"/>
              </a:rPr>
              <a:t>ventas de los productos a través de la generación de tickets y seguimiento de pedidos, optimizando el proceso comercial y la trazabilidad.</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múltiples métodos de pago en las ventas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garantizando transacciones seguras y una experiencia de compra eficiente.</a:t>
            </a:r>
            <a:br>
              <a:rPr lang="es-MX" sz="1600" dirty="0">
                <a:solidFill>
                  <a:schemeClr val="dk1"/>
                </a:solidFill>
                <a:latin typeface="Work Sans Light"/>
                <a:ea typeface="Work Sans Light"/>
                <a:cs typeface="Work Sans Light"/>
                <a:sym typeface="Work Sans Light"/>
              </a:rPr>
            </a:b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las promociones y descuentos de la empresa, facilitando su administración por el personal e incentivando las compras de los clientes.</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Generar reportes sobre usuarios, productos, ventas y promociones, permitiendo un análisis claro del desempeño de la empresa.</a:t>
            </a: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administrador:</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a:solidFill>
                <a:schemeClr val="dk1"/>
              </a:solidFill>
              <a:latin typeface="Work Sans Light"/>
              <a:ea typeface="Work Sans Light"/>
              <a:cs typeface="Work Sans Light"/>
              <a:sym typeface="Work Sans Light"/>
            </a:endParaRPr>
          </a:p>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promociones y descuentos:</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a:solidFill>
                  <a:schemeClr val="dk1"/>
                </a:solidFill>
                <a:latin typeface="Work Sans"/>
                <a:ea typeface="Work Sans"/>
                <a:cs typeface="Work Sans"/>
                <a:sym typeface="Work Sans"/>
              </a:rPr>
              <a:t>.</a:t>
            </a:r>
            <a:endParaRPr sz="1600" b="1">
              <a:solidFill>
                <a:schemeClr val="dk1"/>
              </a:solidFill>
              <a:latin typeface="Work Sans"/>
              <a:ea typeface="Work Sans"/>
              <a:cs typeface="Work Sans"/>
              <a:sym typeface="Work Sans"/>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Módulo de notificaciones y soporte:</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Reportes y estadísticas:</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facturacion por la DIAN genera un ticket o comprobante de venta </a:t>
            </a:r>
            <a:endParaRPr sz="160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descripción, entre otros. Además podrán eliminar valoraciones de productos que infrinjan las normas de protección al usuario.</a:t>
            </a:r>
            <a:endParaRPr/>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Innovation Fusion y la empresa de envíos.</a:t>
            </a:r>
            <a:endParaRPr/>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BPMN del proceso de negocio, no del aplicativo a desarrollar)</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Técnicas de recolección de información y análisis de resultados estadística descriptiva </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Estándar IEEE </a:t>
            </a:r>
            <a:r>
              <a:rPr lang="es-MX" dirty="0" err="1">
                <a:solidFill>
                  <a:schemeClr val="dk1"/>
                </a:solidFill>
                <a:latin typeface="Work Sans Light"/>
                <a:ea typeface="Work Sans Light"/>
                <a:cs typeface="Work Sans Light"/>
                <a:sym typeface="Work Sans Light"/>
              </a:rPr>
              <a:t>Std</a:t>
            </a:r>
            <a:r>
              <a:rPr lang="es-MX" dirty="0">
                <a:solidFill>
                  <a:schemeClr val="dk1"/>
                </a:solidFill>
                <a:latin typeface="Work Sans Light"/>
                <a:ea typeface="Work Sans Light"/>
                <a:cs typeface="Work Sans Light"/>
                <a:sym typeface="Work Sans Light"/>
              </a:rPr>
              <a:t> 830-1998, IEEE 1233-1998, IEEE 29148:2018.</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Diagrama de casos de uso y documentación de casos de uso (formato de casos de uso extendido).</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Validación de requerimientos (Realización de un prototipo usando mockups o </a:t>
            </a:r>
            <a:r>
              <a:rPr lang="es-MX" dirty="0" err="1">
                <a:solidFill>
                  <a:schemeClr val="dk1"/>
                </a:solidFill>
                <a:latin typeface="Work Sans Light"/>
                <a:ea typeface="Work Sans Light"/>
                <a:cs typeface="Work Sans Light"/>
                <a:sym typeface="Work Sans Light"/>
              </a:rPr>
              <a:t>wireframes</a:t>
            </a:r>
            <a:r>
              <a:rPr lang="es-MX" dirty="0">
                <a:solidFill>
                  <a:schemeClr val="dk1"/>
                </a:solidFill>
                <a:latin typeface="Work Sans Light"/>
                <a:ea typeface="Work Sans Light"/>
                <a:cs typeface="Work Sans Light"/>
                <a:sym typeface="Work Sans Light"/>
              </a:rPr>
              <a:t>)</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Fichas técnicas. </a:t>
            </a:r>
            <a:endParaRPr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716</TotalTime>
  <Words>1725</Words>
  <Application>Microsoft Office PowerPoint</Application>
  <PresentationFormat>Panorámica</PresentationFormat>
  <Paragraphs>108</Paragraphs>
  <Slides>16</Slides>
  <Notes>16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Work Sans Medium</vt:lpstr>
      <vt:lpstr>Calibri</vt:lpstr>
      <vt:lpstr>Work Sans Light</vt:lpstr>
      <vt:lpstr>Arial</vt:lpstr>
      <vt:lpstr>Work Sans</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Justificación</vt:lpstr>
      <vt:lpstr>Presentación de PowerPoint</vt:lpstr>
      <vt:lpstr>Alcance</vt:lpstr>
      <vt:lpstr>Presentación de PowerPoint</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Katherin Q</cp:lastModifiedBy>
  <cp:revision>8</cp:revision>
  <dcterms:created xsi:type="dcterms:W3CDTF">2020-10-01T23:51:28Z</dcterms:created>
  <dcterms:modified xsi:type="dcterms:W3CDTF">2025-11-19T19:22:58Z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