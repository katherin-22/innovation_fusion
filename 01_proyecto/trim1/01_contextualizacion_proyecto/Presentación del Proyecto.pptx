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65" r:id="rId12"/>
    <p:sldId id="266" r:id="rId13"/>
    <p:sldId id="267" r:id="rId14"/>
    <p:sldId id="268" r:id="rId15"/>
    <p:sldId id="269" r:id="rId16"/>
    <p:sldId id="270" r:id="rId17"/>
  </p:sldIdLst>
  <p:sldSz cx="12192000" cy="6858000"/>
  <p:notesSz cx="6858000" cy="9144000"/>
  <p:embeddedFontLst>
    <p:embeddedFont>
      <p:font typeface="Work Sans" pitchFamily="2" charset="0"/>
      <p:regular r:id="rId19"/>
      <p:bold r:id="rId20"/>
      <p:italic r:id="rId21"/>
      <p:boldItalic r:id="rId22"/>
    </p:embeddedFont>
    <p:embeddedFont>
      <p:font typeface="Work Sans Light" pitchFamily="2" charset="0"/>
      <p:regular r:id="rId23"/>
      <p:bold r:id="rId24"/>
      <p:italic r:id="rId25"/>
      <p:boldItalic r:id="rId26"/>
    </p:embeddedFont>
    <p:embeddedFont>
      <p:font typeface="Work Sans Medium"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gGeO/vHCTEi/MJf6RnpC6vp81Q4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0B6C16-105A-48B9-B28C-AD33A7352A04}">
  <a:tblStyle styleId="{410B6C16-105A-48B9-B28C-AD33A7352A0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74" autoAdjust="0"/>
    <p:restoredTop sz="94660"/>
  </p:normalViewPr>
  <p:slideViewPr>
    <p:cSldViewPr snapToGrid="0">
      <p:cViewPr>
        <p:scale>
          <a:sx n="66" d="100"/>
          <a:sy n="66" d="100"/>
        </p:scale>
        <p:origin x="510"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63988e416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63988e416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3988e4161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63988e4161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6393dac50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6393dac50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1578A74-2E8D-07F9-8FF1-2A364FB4D3EC}"/>
            </a:ext>
          </a:extLst>
        </p:cNvPr>
        <p:cNvGrpSpPr/>
        <p:nvPr/>
      </p:nvGrpSpPr>
      <p:grpSpPr>
        <a:xfrm>
          <a:off x="0" y="0"/>
          <a:ext cx="0" cy="0"/>
          <a:chOff x="0" y="0"/>
          <a:chExt cx="0" cy="0"/>
        </a:xfrm>
      </p:grpSpPr>
      <p:sp>
        <p:nvSpPr>
          <p:cNvPr id="137" name="Google Shape;137;g36393dac501_0_0:notes">
            <a:extLst>
              <a:ext uri="{FF2B5EF4-FFF2-40B4-BE49-F238E27FC236}">
                <a16:creationId xmlns:a16="http://schemas.microsoft.com/office/drawing/2014/main" id="{498A3966-A0A3-5A12-807B-B17F11A03EF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6393dac501_0_0:notes">
            <a:extLst>
              <a:ext uri="{FF2B5EF4-FFF2-40B4-BE49-F238E27FC236}">
                <a16:creationId xmlns:a16="http://schemas.microsoft.com/office/drawing/2014/main" id="{BED9EEDE-097B-A380-8383-AC915D5D40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3157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6393dac501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6393dac501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6393dac501_6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36393dac501_6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48fab2c6ef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48fab2c6ef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48fab2c6ef_1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7"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18"/>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19"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19"/>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9"/>
          <p:cNvSpPr>
            <a:spLocks noGrp="1"/>
          </p:cNvSpPr>
          <p:nvPr>
            <p:ph type="pic" idx="2"/>
          </p:nvPr>
        </p:nvSpPr>
        <p:spPr>
          <a:xfrm>
            <a:off x="5183188" y="987425"/>
            <a:ext cx="6172200" cy="4873625"/>
          </a:xfrm>
          <a:prstGeom prst="rect">
            <a:avLst/>
          </a:prstGeom>
          <a:noFill/>
          <a:ln>
            <a:noFill/>
          </a:ln>
        </p:spPr>
      </p:sp>
      <p:sp>
        <p:nvSpPr>
          <p:cNvPr id="80" name="Google Shape;8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forms.gle/mygN8hwspY6cPo2K6" TargetMode="External"/><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hyperlink" Target="https://docs.google.com/document/d/1k89GukGZqF4sdMDzXDMdkwlsAVQvETv5/edit" TargetMode="External"/><Relationship Id="rId5" Type="http://schemas.openxmlformats.org/officeDocument/2006/relationships/hyperlink" Target="https://docs.google.com/document/d/19fb_yMSavdpKgo4-iXuHDx7MvqHGwpOrQmrW8WEoYcM/edit?tab=t.0" TargetMode="External"/><Relationship Id="rId4" Type="http://schemas.openxmlformats.org/officeDocument/2006/relationships/hyperlink" Target="https://docs.google.com/document/d/1hUNuXN74zkWklU7JHV1C2Eg7h8_buByc/edit?usp=sharing&amp;ouid=110984401584463252056&amp;rtpof=true&amp;sd=tru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hyperlink" Target="http://node.js" TargetMode="Externa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927400" y="2854475"/>
            <a:ext cx="5198100" cy="615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endParaRPr sz="3400" b="1">
              <a:solidFill>
                <a:srgbClr val="0C0C0C"/>
              </a:solidFill>
              <a:latin typeface="Work Sans"/>
              <a:ea typeface="Work Sans"/>
              <a:cs typeface="Work Sans"/>
              <a:sym typeface="Work Sans"/>
            </a:endParaRPr>
          </a:p>
        </p:txBody>
      </p:sp>
      <p:pic>
        <p:nvPicPr>
          <p:cNvPr id="102" name="Google Shape;102;p1"/>
          <p:cNvPicPr preferRelativeResize="0"/>
          <p:nvPr/>
        </p:nvPicPr>
        <p:blipFill>
          <a:blip r:embed="rId3">
            <a:alphaModFix/>
          </a:blip>
          <a:stretch>
            <a:fillRect/>
          </a:stretch>
        </p:blipFill>
        <p:spPr>
          <a:xfrm>
            <a:off x="8573749" y="2185900"/>
            <a:ext cx="2626000" cy="2662575"/>
          </a:xfrm>
          <a:prstGeom prst="rect">
            <a:avLst/>
          </a:prstGeom>
          <a:noFill/>
          <a:ln>
            <a:noFill/>
          </a:ln>
        </p:spPr>
      </p:pic>
      <p:pic>
        <p:nvPicPr>
          <p:cNvPr id="3" name="Imagen 2">
            <a:extLst>
              <a:ext uri="{FF2B5EF4-FFF2-40B4-BE49-F238E27FC236}">
                <a16:creationId xmlns:a16="http://schemas.microsoft.com/office/drawing/2014/main" id="{98EBC749-0B0E-2CC5-825D-2EBAD87A3D7A}"/>
              </a:ext>
            </a:extLst>
          </p:cNvPr>
          <p:cNvPicPr>
            <a:picLocks noChangeAspect="1"/>
          </p:cNvPicPr>
          <p:nvPr/>
        </p:nvPicPr>
        <p:blipFill>
          <a:blip r:embed="rId4"/>
          <a:stretch>
            <a:fillRect/>
          </a:stretch>
        </p:blipFill>
        <p:spPr>
          <a:xfrm>
            <a:off x="4974279" y="2247108"/>
            <a:ext cx="2445934" cy="24459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
          <p:cNvSpPr txBox="1"/>
          <p:nvPr/>
        </p:nvSpPr>
        <p:spPr>
          <a:xfrm>
            <a:off x="2092050" y="709450"/>
            <a:ext cx="8007900" cy="230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7200">
                <a:solidFill>
                  <a:schemeClr val="lt1"/>
                </a:solidFill>
                <a:latin typeface="Work Sans Light"/>
                <a:ea typeface="Work Sans Light"/>
                <a:cs typeface="Work Sans Light"/>
                <a:sym typeface="Work Sans Light"/>
              </a:rPr>
              <a:t>INNOVATION FUSION STORE</a:t>
            </a:r>
            <a:endParaRPr/>
          </a:p>
        </p:txBody>
      </p:sp>
      <p:cxnSp>
        <p:nvCxnSpPr>
          <p:cNvPr id="109" name="Google Shape;109;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10" name="Google Shape;110;p2"/>
          <p:cNvSpPr txBox="1"/>
          <p:nvPr/>
        </p:nvSpPr>
        <p:spPr>
          <a:xfrm>
            <a:off x="4168816" y="3463724"/>
            <a:ext cx="3854400" cy="1077300"/>
          </a:xfrm>
          <a:prstGeom prst="rect">
            <a:avLst/>
          </a:prstGeom>
          <a:noFill/>
          <a:ln>
            <a:noFill/>
          </a:ln>
        </p:spPr>
        <p:txBody>
          <a:bodyPr spcFirstLastPara="1" wrap="square" lIns="91425" tIns="45700" rIns="91425" bIns="45700" anchor="t" anchorCtr="0">
            <a:spAutoFit/>
          </a:bodyPr>
          <a:lstStyle/>
          <a:p>
            <a:pPr marL="0" marR="0" lvl="0" indent="457200" algn="l" rtl="0">
              <a:spcBef>
                <a:spcPts val="0"/>
              </a:spcBef>
              <a:spcAft>
                <a:spcPts val="0"/>
              </a:spcAft>
              <a:buNone/>
            </a:pPr>
            <a:r>
              <a:rPr lang="es-MX" sz="1600">
                <a:solidFill>
                  <a:schemeClr val="lt1"/>
                </a:solidFill>
                <a:latin typeface="Work Sans Light"/>
                <a:ea typeface="Work Sans Light"/>
                <a:cs typeface="Work Sans Light"/>
                <a:sym typeface="Work Sans Light"/>
              </a:rPr>
              <a:t>Bohorquez Diaz Daniela Lorena</a:t>
            </a:r>
            <a:endParaRPr sz="1600">
              <a:solidFill>
                <a:schemeClr val="lt1"/>
              </a:solidFill>
              <a:latin typeface="Work Sans Light"/>
              <a:ea typeface="Work Sans Light"/>
              <a:cs typeface="Work Sans Light"/>
              <a:sym typeface="Work Sans Light"/>
            </a:endParaRPr>
          </a:p>
          <a:p>
            <a:pPr marL="0" lvl="0" indent="0" algn="ctr" rtl="0">
              <a:spcBef>
                <a:spcPts val="0"/>
              </a:spcBef>
              <a:spcAft>
                <a:spcPts val="0"/>
              </a:spcAft>
              <a:buClr>
                <a:schemeClr val="dk1"/>
              </a:buClr>
              <a:buFont typeface="Arial"/>
              <a:buNone/>
            </a:pPr>
            <a:r>
              <a:rPr lang="es-MX" sz="1600">
                <a:solidFill>
                  <a:schemeClr val="lt1"/>
                </a:solidFill>
                <a:latin typeface="Work Sans Light"/>
                <a:ea typeface="Work Sans Light"/>
                <a:cs typeface="Work Sans Light"/>
                <a:sym typeface="Work Sans Light"/>
              </a:rPr>
              <a:t>Carvajal Bonilla Jhonatan</a:t>
            </a:r>
            <a:endParaRPr sz="1600">
              <a:solidFill>
                <a:schemeClr val="lt1"/>
              </a:solidFill>
              <a:latin typeface="Work Sans Light"/>
              <a:ea typeface="Work Sans Light"/>
              <a:cs typeface="Work Sans Light"/>
              <a:sym typeface="Work Sans Light"/>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Morcillo Quiroga Katherin</a:t>
            </a:r>
            <a:endParaRPr sz="2400">
              <a:solidFill>
                <a:schemeClr val="lt1"/>
              </a:solidFill>
              <a:latin typeface="Work Sans Light"/>
              <a:ea typeface="Work Sans Light"/>
              <a:cs typeface="Work Sans Light"/>
              <a:sym typeface="Work Sans Light"/>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Rachen Cardenas Brayan Santiago</a:t>
            </a:r>
            <a:endParaRPr sz="1600">
              <a:solidFill>
                <a:schemeClr val="lt1"/>
              </a:solidFill>
              <a:latin typeface="Work Sans Light"/>
              <a:ea typeface="Work Sans Light"/>
              <a:cs typeface="Work Sans Light"/>
              <a:sym typeface="Work Sans Light"/>
            </a:endParaRPr>
          </a:p>
        </p:txBody>
      </p:sp>
      <p:sp>
        <p:nvSpPr>
          <p:cNvPr id="111" name="Google Shape;111;p2"/>
          <p:cNvSpPr txBox="1"/>
          <p:nvPr/>
        </p:nvSpPr>
        <p:spPr>
          <a:xfrm>
            <a:off x="1068888" y="5279998"/>
            <a:ext cx="1005422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Tecnólogo en Análisis y Desarrollo de Software</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Instructor Albeiro Ramos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Bogotá, 30 de Julio de 2025</a:t>
            </a:r>
            <a:endParaRPr sz="1600" b="1">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g363988e4161_0_0"/>
          <p:cNvSpPr/>
          <p:nvPr/>
        </p:nvSpPr>
        <p:spPr>
          <a:xfrm>
            <a:off x="498593" y="494977"/>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g363988e4161_0_0"/>
          <p:cNvSpPr txBox="1"/>
          <p:nvPr/>
        </p:nvSpPr>
        <p:spPr>
          <a:xfrm>
            <a:off x="498595" y="273824"/>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18" name="Google Shape;118;g363988e4161_0_0"/>
          <p:cNvSpPr txBox="1"/>
          <p:nvPr/>
        </p:nvSpPr>
        <p:spPr>
          <a:xfrm>
            <a:off x="413900" y="1014125"/>
            <a:ext cx="7197600" cy="5695200"/>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1200"/>
              </a:spcBef>
              <a:spcAft>
                <a:spcPts val="0"/>
              </a:spcAft>
              <a:buNone/>
            </a:pPr>
            <a:r>
              <a:rPr lang="es-MX" sz="1600">
                <a:solidFill>
                  <a:schemeClr val="dk1"/>
                </a:solidFill>
                <a:latin typeface="Work Sans Light"/>
                <a:ea typeface="Work Sans Light"/>
                <a:cs typeface="Work Sans Light"/>
                <a:sym typeface="Work Sans Light"/>
              </a:rPr>
              <a:t>Innovation Fusion opera en los sectores industrial y comercial, fabricando y vendiendo calzado y bolsos. Su modelo de negocio se basa en replicar las últimas tendencias de moda. Actualmente, la gestión de pedidos, compras y ventas se realiza de forma manual, lo que genera grandes desafíos para su crecimiento y competitividad en el mercado actual.</a:t>
            </a:r>
            <a:endParaRPr sz="1100">
              <a:solidFill>
                <a:schemeClr val="dk1"/>
              </a:solidFill>
            </a:endParaRPr>
          </a:p>
          <a:p>
            <a:pPr marL="0" marR="0" lvl="0" indent="0" algn="l" rtl="0">
              <a:lnSpc>
                <a:spcPct val="100000"/>
              </a:lnSpc>
              <a:spcBef>
                <a:spcPts val="1200"/>
              </a:spcBef>
              <a:spcAft>
                <a:spcPts val="0"/>
              </a:spcAft>
              <a:buNone/>
            </a:pPr>
            <a:r>
              <a:rPr lang="es-MX" sz="1600" b="1">
                <a:solidFill>
                  <a:schemeClr val="dk1"/>
                </a:solidFill>
                <a:latin typeface="Work Sans"/>
                <a:ea typeface="Work Sans"/>
                <a:cs typeface="Work Sans"/>
                <a:sym typeface="Work Sans"/>
              </a:rPr>
              <a:t>Problemática Central:</a:t>
            </a:r>
            <a:endParaRPr sz="1600" b="1">
              <a:solidFill>
                <a:schemeClr val="dk1"/>
              </a:solidFill>
              <a:latin typeface="Work Sans"/>
              <a:ea typeface="Work Sans"/>
              <a:cs typeface="Work Sans"/>
              <a:sym typeface="Work Sans"/>
            </a:endParaRPr>
          </a:p>
          <a:p>
            <a:pPr marL="0" lvl="0" indent="0" algn="just" rtl="0">
              <a:lnSpc>
                <a:spcPct val="115000"/>
              </a:lnSpc>
              <a:spcBef>
                <a:spcPts val="1200"/>
              </a:spcBef>
              <a:spcAft>
                <a:spcPts val="0"/>
              </a:spcAft>
              <a:buSzPts val="1100"/>
              <a:buNone/>
            </a:pPr>
            <a:r>
              <a:rPr lang="es-MX" sz="1600">
                <a:solidFill>
                  <a:schemeClr val="dk1"/>
                </a:solidFill>
                <a:latin typeface="Work Sans Light"/>
                <a:ea typeface="Work Sans Light"/>
                <a:cs typeface="Work Sans Light"/>
                <a:sym typeface="Work Sans Light"/>
              </a:rPr>
              <a:t>La principal dificultad de Innovation Fusion es la falta de una plataforma digital. Esto limita severamente su visibilidad y capacidad para atraer nuevos clientes, poniéndola en desventaja. El manejo manual de sus procesos operativos clave crea ineficiencias que dificultan enormemente la escalabilidad del negocio.</a:t>
            </a:r>
            <a:endParaRPr sz="1600">
              <a:solidFill>
                <a:schemeClr val="dk1"/>
              </a:solidFill>
              <a:latin typeface="Work Sans Light"/>
              <a:ea typeface="Work Sans Light"/>
              <a:cs typeface="Work Sans Light"/>
              <a:sym typeface="Work Sans Light"/>
            </a:endParaRPr>
          </a:p>
          <a:p>
            <a:pPr marL="0" marR="0" lvl="0" indent="0" algn="l" rtl="0">
              <a:lnSpc>
                <a:spcPct val="100000"/>
              </a:lnSpc>
              <a:spcBef>
                <a:spcPts val="1200"/>
              </a:spcBef>
              <a:spcAft>
                <a:spcPts val="0"/>
              </a:spcAft>
              <a:buNone/>
            </a:pPr>
            <a:r>
              <a:rPr lang="es-MX" sz="1600" b="1">
                <a:solidFill>
                  <a:schemeClr val="dk1"/>
                </a:solidFill>
                <a:latin typeface="Work Sans"/>
                <a:ea typeface="Work Sans"/>
                <a:cs typeface="Work Sans"/>
                <a:sym typeface="Work Sans"/>
              </a:rPr>
              <a:t>Objetivos del Proyecto:</a:t>
            </a:r>
            <a:endParaRPr sz="1600" b="1">
              <a:solidFill>
                <a:schemeClr val="dk1"/>
              </a:solidFill>
              <a:latin typeface="Work Sans"/>
              <a:ea typeface="Work Sans"/>
              <a:cs typeface="Work Sans"/>
              <a:sym typeface="Work Sans"/>
            </a:endParaRPr>
          </a:p>
          <a:p>
            <a:pPr marL="0" marR="0" lvl="0" indent="0" algn="just" rtl="0">
              <a:lnSpc>
                <a:spcPct val="115000"/>
              </a:lnSpc>
              <a:spcBef>
                <a:spcPts val="1200"/>
              </a:spcBef>
              <a:spcAft>
                <a:spcPts val="1200"/>
              </a:spcAft>
              <a:buNone/>
            </a:pPr>
            <a:r>
              <a:rPr lang="es-MX" sz="1600">
                <a:solidFill>
                  <a:schemeClr val="dk1"/>
                </a:solidFill>
                <a:latin typeface="Work Sans Light"/>
                <a:ea typeface="Work Sans Light"/>
                <a:cs typeface="Work Sans Light"/>
                <a:sym typeface="Work Sans Light"/>
              </a:rPr>
              <a:t>El objetivo general es desarrollar e implementar un Sistema de Información Web para Innovation Fusion. Este sistema facilitará la compra de calzado y bolsos de forma segura y eficiente. Los objetivos específicos incluyen gestionar usuarios, el catálogo de productos, el carrito de compras, los pagos, las promociones, las reseñas y la administración de descuentos.</a:t>
            </a:r>
            <a:endParaRPr sz="1600">
              <a:solidFill>
                <a:schemeClr val="dk1"/>
              </a:solidFill>
              <a:latin typeface="Work Sans Light"/>
              <a:ea typeface="Work Sans Light"/>
              <a:cs typeface="Work Sans Light"/>
              <a:sym typeface="Work Sans Light"/>
            </a:endParaRPr>
          </a:p>
        </p:txBody>
      </p:sp>
      <p:pic>
        <p:nvPicPr>
          <p:cNvPr id="119" name="Google Shape;119;g363988e4161_0_0"/>
          <p:cNvPicPr preferRelativeResize="0"/>
          <p:nvPr/>
        </p:nvPicPr>
        <p:blipFill>
          <a:blip r:embed="rId4">
            <a:alphaModFix/>
          </a:blip>
          <a:stretch>
            <a:fillRect/>
          </a:stretch>
        </p:blipFill>
        <p:spPr>
          <a:xfrm>
            <a:off x="7897404" y="0"/>
            <a:ext cx="4294595" cy="6858000"/>
          </a:xfrm>
          <a:prstGeom prst="rect">
            <a:avLst/>
          </a:prstGeom>
          <a:noFill/>
          <a:ln>
            <a:noFill/>
          </a:ln>
        </p:spPr>
      </p:pic>
      <p:pic>
        <p:nvPicPr>
          <p:cNvPr id="120" name="Google Shape;120;g363988e4161_0_0"/>
          <p:cNvPicPr preferRelativeResize="0"/>
          <p:nvPr/>
        </p:nvPicPr>
        <p:blipFill>
          <a:blip r:embed="rId5">
            <a:alphaModFix/>
          </a:blip>
          <a:stretch>
            <a:fillRect/>
          </a:stretch>
        </p:blipFill>
        <p:spPr>
          <a:xfrm>
            <a:off x="7912585" y="0"/>
            <a:ext cx="4264231"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p:cNvGrpSpPr/>
        <p:nvPr/>
      </p:nvGrpSpPr>
      <p:grpSpPr>
        <a:xfrm>
          <a:off x="0" y="0"/>
          <a:ext cx="0" cy="0"/>
          <a:chOff x="0" y="0"/>
          <a:chExt cx="0" cy="0"/>
        </a:xfrm>
      </p:grpSpPr>
      <p:sp>
        <p:nvSpPr>
          <p:cNvPr id="125" name="Google Shape;125;g363988e4161_0_24"/>
          <p:cNvSpPr/>
          <p:nvPr/>
        </p:nvSpPr>
        <p:spPr>
          <a:xfrm>
            <a:off x="1786193" y="549352"/>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g363988e4161_0_24"/>
          <p:cNvSpPr txBox="1"/>
          <p:nvPr/>
        </p:nvSpPr>
        <p:spPr>
          <a:xfrm>
            <a:off x="1786195" y="219949"/>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27" name="Google Shape;127;g363988e4161_0_24"/>
          <p:cNvSpPr txBox="1"/>
          <p:nvPr/>
        </p:nvSpPr>
        <p:spPr>
          <a:xfrm>
            <a:off x="1786200" y="896450"/>
            <a:ext cx="8619600" cy="56574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200"/>
              </a:spcBef>
              <a:spcAft>
                <a:spcPts val="0"/>
              </a:spcAft>
              <a:buNone/>
            </a:pPr>
            <a:r>
              <a:rPr lang="es-MX" sz="1600" b="1">
                <a:solidFill>
                  <a:schemeClr val="dk1"/>
                </a:solidFill>
                <a:latin typeface="Work Sans"/>
                <a:ea typeface="Work Sans"/>
                <a:cs typeface="Work Sans"/>
                <a:sym typeface="Work Sans"/>
              </a:rPr>
              <a:t>Justificación del Proyecto</a:t>
            </a:r>
            <a:endParaRPr sz="1600" b="1">
              <a:solidFill>
                <a:schemeClr val="dk1"/>
              </a:solidFill>
              <a:latin typeface="Work Sans"/>
              <a:ea typeface="Work Sans"/>
              <a:cs typeface="Work Sans"/>
              <a:sym typeface="Work Sans"/>
            </a:endParaRPr>
          </a:p>
          <a:p>
            <a:pPr marL="0" marR="0" lvl="0" indent="0" algn="just" rtl="0">
              <a:lnSpc>
                <a:spcPct val="115000"/>
              </a:lnSpc>
              <a:spcBef>
                <a:spcPts val="1200"/>
              </a:spcBef>
              <a:spcAft>
                <a:spcPts val="0"/>
              </a:spcAft>
              <a:buNone/>
            </a:pPr>
            <a:r>
              <a:rPr lang="es-MX" sz="1600">
                <a:solidFill>
                  <a:schemeClr val="dk1"/>
                </a:solidFill>
                <a:latin typeface="Work Sans Light"/>
                <a:ea typeface="Work Sans Light"/>
                <a:cs typeface="Work Sans Light"/>
                <a:sym typeface="Work Sans Light"/>
              </a:rPr>
              <a:t>Este proyecto es crucial porque Innovation Fusion necesita modernizarse y digitalizar sus operaciones. Esto aumentará su visibilidad en el mercado, mejorará la eficiencia de sus procesos manuales y ofrecerá una experiencia de compra superior y moderna. La digitalización es esencial para su crecimiento y competitividad.</a:t>
            </a:r>
            <a:endParaRPr sz="1600">
              <a:solidFill>
                <a:schemeClr val="dk1"/>
              </a:solidFill>
              <a:latin typeface="Work Sans Light"/>
              <a:ea typeface="Work Sans Light"/>
              <a:cs typeface="Work Sans Light"/>
              <a:sym typeface="Work Sans Light"/>
            </a:endParaRPr>
          </a:p>
          <a:p>
            <a:pPr marL="0" marR="0" lvl="0" indent="0" algn="l" rtl="0">
              <a:lnSpc>
                <a:spcPct val="115000"/>
              </a:lnSpc>
              <a:spcBef>
                <a:spcPts val="1200"/>
              </a:spcBef>
              <a:spcAft>
                <a:spcPts val="0"/>
              </a:spcAft>
              <a:buNone/>
            </a:pPr>
            <a:r>
              <a:rPr lang="es-MX" sz="1600" b="1">
                <a:solidFill>
                  <a:schemeClr val="dk1"/>
                </a:solidFill>
                <a:latin typeface="Work Sans"/>
                <a:ea typeface="Work Sans"/>
                <a:cs typeface="Work Sans"/>
                <a:sym typeface="Work Sans"/>
              </a:rPr>
              <a:t>Alcance del Proyecto</a:t>
            </a:r>
            <a:endParaRPr sz="1600" b="1">
              <a:solidFill>
                <a:schemeClr val="dk1"/>
              </a:solidFill>
              <a:latin typeface="Work Sans"/>
              <a:ea typeface="Work Sans"/>
              <a:cs typeface="Work Sans"/>
              <a:sym typeface="Work Sans"/>
            </a:endParaRPr>
          </a:p>
          <a:p>
            <a:pPr marL="0" marR="0" lvl="0" indent="0" algn="just" rtl="0">
              <a:lnSpc>
                <a:spcPct val="115000"/>
              </a:lnSpc>
              <a:spcBef>
                <a:spcPts val="1200"/>
              </a:spcBef>
              <a:spcAft>
                <a:spcPts val="0"/>
              </a:spcAft>
              <a:buNone/>
            </a:pPr>
            <a:r>
              <a:rPr lang="es-MX" sz="1600">
                <a:solidFill>
                  <a:schemeClr val="dk1"/>
                </a:solidFill>
                <a:latin typeface="Work Sans Light"/>
                <a:ea typeface="Work Sans Light"/>
                <a:cs typeface="Work Sans Light"/>
                <a:sym typeface="Work Sans Light"/>
              </a:rPr>
              <a:t>El sistema abarcará el desarrollo de una aplicación web integral. Incluirá funcionalidades de comercio electrónico y administración completa de usuarios (clientes y administradores). Un proceso de compra automatizado, administración de inventario, implementación de promociones y generación de reportes para análisis de datos.</a:t>
            </a:r>
            <a:endParaRPr sz="1600">
              <a:solidFill>
                <a:schemeClr val="dk1"/>
              </a:solidFill>
              <a:latin typeface="Work Sans Light"/>
              <a:ea typeface="Work Sans Light"/>
              <a:cs typeface="Work Sans Light"/>
              <a:sym typeface="Work Sans Light"/>
            </a:endParaRPr>
          </a:p>
          <a:p>
            <a:pPr marL="0" marR="0" lvl="0" indent="0" algn="l" rtl="0">
              <a:lnSpc>
                <a:spcPct val="115000"/>
              </a:lnSpc>
              <a:spcBef>
                <a:spcPts val="1200"/>
              </a:spcBef>
              <a:spcAft>
                <a:spcPts val="0"/>
              </a:spcAft>
              <a:buNone/>
            </a:pPr>
            <a:r>
              <a:rPr lang="es-MX" sz="1700" b="1">
                <a:solidFill>
                  <a:schemeClr val="dk1"/>
                </a:solidFill>
              </a:rPr>
              <a:t> </a:t>
            </a:r>
            <a:r>
              <a:rPr lang="es-MX" sz="1600" b="1">
                <a:solidFill>
                  <a:schemeClr val="dk1"/>
                </a:solidFill>
                <a:latin typeface="Work Sans"/>
                <a:ea typeface="Work Sans"/>
                <a:cs typeface="Work Sans"/>
                <a:sym typeface="Work Sans"/>
              </a:rPr>
              <a:t>Delimitación del Proyecto</a:t>
            </a:r>
            <a:endParaRPr sz="1600" b="1">
              <a:solidFill>
                <a:schemeClr val="dk1"/>
              </a:solidFill>
              <a:latin typeface="Work Sans"/>
              <a:ea typeface="Work Sans"/>
              <a:cs typeface="Work Sans"/>
              <a:sym typeface="Work Sans"/>
            </a:endParaRPr>
          </a:p>
          <a:p>
            <a:pPr marL="0" marR="0" lvl="0" indent="0" algn="just" rtl="0">
              <a:lnSpc>
                <a:spcPct val="115000"/>
              </a:lnSpc>
              <a:spcBef>
                <a:spcPts val="1200"/>
              </a:spcBef>
              <a:spcAft>
                <a:spcPts val="1200"/>
              </a:spcAft>
              <a:buNone/>
            </a:pPr>
            <a:r>
              <a:rPr lang="es-MX" sz="1600">
                <a:solidFill>
                  <a:schemeClr val="dk1"/>
                </a:solidFill>
                <a:latin typeface="Work Sans Light"/>
                <a:ea typeface="Work Sans Light"/>
                <a:cs typeface="Work Sans Light"/>
                <a:sym typeface="Work Sans Light"/>
              </a:rPr>
              <a:t>El sistema se centrará en la interfaz web para la interacción con clientes y la gestión administrativa de ventas e inventario. No automatizará procesos físicos de manufactura (corte, cosido, pegado) ni la subcontratación de modelaje. La logística de envíos y devoluciones se gestionará a nivel de sistema, pero la operación física seguirá a cargo de terceros.</a:t>
            </a:r>
            <a:endParaRPr sz="1600">
              <a:solidFill>
                <a:schemeClr val="dk1"/>
              </a:solidFill>
              <a:latin typeface="Work Sans Light"/>
              <a:ea typeface="Work Sans Light"/>
              <a:cs typeface="Work Sans Light"/>
              <a:sym typeface="Work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
        <p:nvSpPr>
          <p:cNvPr id="132" name="Google Shape;132;p4"/>
          <p:cNvSpPr txBox="1"/>
          <p:nvPr/>
        </p:nvSpPr>
        <p:spPr>
          <a:xfrm>
            <a:off x="456236" y="416689"/>
            <a:ext cx="10515600"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Nombre del Proyecto</a:t>
            </a:r>
            <a:endParaRPr/>
          </a:p>
        </p:txBody>
      </p:sp>
      <p:sp>
        <p:nvSpPr>
          <p:cNvPr id="133" name="Google Shape;133;p4"/>
          <p:cNvSpPr txBox="1"/>
          <p:nvPr/>
        </p:nvSpPr>
        <p:spPr>
          <a:xfrm>
            <a:off x="6653014" y="2489547"/>
            <a:ext cx="4547400" cy="3540300"/>
          </a:xfrm>
          <a:prstGeom prst="rect">
            <a:avLst/>
          </a:prstGeom>
          <a:noFill/>
          <a:ln>
            <a:noFill/>
          </a:ln>
        </p:spPr>
        <p:txBody>
          <a:bodyPr spcFirstLastPara="1" wrap="square" lIns="91425" tIns="45700" rIns="91425" bIns="45700" anchor="t" anchorCtr="0">
            <a:spAutoFit/>
          </a:bodyPr>
          <a:lstStyle/>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Problema</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Objetivos</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Justificación</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Alcance</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Delimitación</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Entregables Trimestre</a:t>
            </a:r>
            <a:endParaRPr/>
          </a:p>
        </p:txBody>
      </p:sp>
      <p:pic>
        <p:nvPicPr>
          <p:cNvPr id="134" name="Google Shape;134;p4"/>
          <p:cNvPicPr preferRelativeResize="0"/>
          <p:nvPr/>
        </p:nvPicPr>
        <p:blipFill>
          <a:blip r:embed="rId4">
            <a:alphaModFix/>
          </a:blip>
          <a:stretch>
            <a:fillRect/>
          </a:stretch>
        </p:blipFill>
        <p:spPr>
          <a:xfrm>
            <a:off x="3573672" y="2820965"/>
            <a:ext cx="2251475" cy="2168075"/>
          </a:xfrm>
          <a:prstGeom prst="rect">
            <a:avLst/>
          </a:prstGeom>
          <a:noFill/>
          <a:ln>
            <a:noFill/>
          </a:ln>
        </p:spPr>
      </p:pic>
      <p:pic>
        <p:nvPicPr>
          <p:cNvPr id="2" name="Imagen 1">
            <a:extLst>
              <a:ext uri="{FF2B5EF4-FFF2-40B4-BE49-F238E27FC236}">
                <a16:creationId xmlns:a16="http://schemas.microsoft.com/office/drawing/2014/main" id="{7B5FBCF8-7ED3-B2CC-C930-7371119F4BA7}"/>
              </a:ext>
            </a:extLst>
          </p:cNvPr>
          <p:cNvPicPr>
            <a:picLocks noChangeAspect="1"/>
          </p:cNvPicPr>
          <p:nvPr/>
        </p:nvPicPr>
        <p:blipFill>
          <a:blip r:embed="rId5"/>
          <a:stretch>
            <a:fillRect/>
          </a:stretch>
        </p:blipFill>
        <p:spPr>
          <a:xfrm>
            <a:off x="713805" y="2682035"/>
            <a:ext cx="2445934" cy="24459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6393dac501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41" name="Google Shape;141;g36393dac501_0_0"/>
          <p:cNvSpPr txBox="1"/>
          <p:nvPr/>
        </p:nvSpPr>
        <p:spPr>
          <a:xfrm>
            <a:off x="372353" y="1667521"/>
            <a:ext cx="11447400" cy="551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es una empresa ubicada en Bogotá dedicada a la fabricación y venta de calzado y bolsos. Su modelo de negocio se basa en el proceso de la manufactura de los insumos, el proceso de la comercialización del producto, y el proceso de la facturación manual</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r>
              <a:rPr lang="es-MX" sz="1600" dirty="0">
                <a:solidFill>
                  <a:schemeClr val="dk1"/>
                </a:solidFill>
                <a:latin typeface="Work Sans Light"/>
                <a:ea typeface="Work Sans Light"/>
                <a:cs typeface="Work Sans Light"/>
                <a:sym typeface="Work Sans Light"/>
              </a:rPr>
              <a:t>Se utilizaron técnicas de recolección de datos como lo fueron: la encuesta, la entrevista, el análisis de la competencia. En la encuesta se enfocó a posibles clientes de la empresa(</a:t>
            </a:r>
            <a:r>
              <a:rPr lang="es-MX" sz="1600" u="sng" dirty="0">
                <a:solidFill>
                  <a:schemeClr val="hlink"/>
                </a:solidFill>
                <a:latin typeface="Work Sans"/>
                <a:ea typeface="Work Sans"/>
                <a:cs typeface="Work Sans"/>
                <a:sym typeface="Work Sans"/>
                <a:hlinkClick r:id="rId3"/>
              </a:rPr>
              <a:t>link </a:t>
            </a:r>
            <a:r>
              <a:rPr lang="es-MX" sz="1600" u="sng" dirty="0">
                <a:solidFill>
                  <a:schemeClr val="hlink"/>
                </a:solidFill>
                <a:latin typeface="Work Sans"/>
                <a:ea typeface="Work Sans"/>
                <a:cs typeface="Work Sans"/>
                <a:sym typeface="Work Sans"/>
                <a:hlinkClick r:id="rId3"/>
              </a:rPr>
              <a:t>verla encuesta</a:t>
            </a:r>
            <a:r>
              <a:rPr lang="es-MX" sz="1600" dirty="0">
                <a:solidFill>
                  <a:schemeClr val="dk1"/>
                </a:solidFill>
                <a:latin typeface="Work Sans Light"/>
                <a:ea typeface="Work Sans Light"/>
                <a:cs typeface="Work Sans Light"/>
                <a:sym typeface="Work Sans Light"/>
              </a:rPr>
              <a:t>), se realizó una entrevista, donde se enfocó al gerente de la empresa (</a:t>
            </a:r>
            <a:r>
              <a:rPr lang="es-MX" sz="1600" u="sng" dirty="0">
                <a:solidFill>
                  <a:schemeClr val="hlink"/>
                </a:solidFill>
                <a:latin typeface="Work Sans Light"/>
                <a:ea typeface="Work Sans Light"/>
                <a:cs typeface="Work Sans Light"/>
                <a:sym typeface="Work Sans Light"/>
                <a:hlinkClick r:id="rId4"/>
              </a:rPr>
              <a:t>link de la entrevista</a:t>
            </a:r>
            <a:r>
              <a:rPr lang="es-MX" sz="1600" dirty="0">
                <a:solidFill>
                  <a:schemeClr val="dk1"/>
                </a:solidFill>
                <a:latin typeface="Work Sans Light"/>
                <a:ea typeface="Work Sans Light"/>
                <a:cs typeface="Work Sans Light"/>
                <a:sym typeface="Work Sans Light"/>
              </a:rPr>
              <a:t>)y un análisis de la competencia (</a:t>
            </a:r>
            <a:r>
              <a:rPr lang="es-MX" sz="1600" u="sng" dirty="0">
                <a:solidFill>
                  <a:schemeClr val="hlink"/>
                </a:solidFill>
                <a:latin typeface="Work Sans Light"/>
                <a:ea typeface="Work Sans Light"/>
                <a:cs typeface="Work Sans Light"/>
                <a:sym typeface="Work Sans Light"/>
                <a:hlinkClick r:id="rId5"/>
              </a:rPr>
              <a:t>link de competencia</a:t>
            </a:r>
            <a:r>
              <a:rPr lang="es-MX" sz="1600" dirty="0">
                <a:solidFill>
                  <a:schemeClr val="dk1"/>
                </a:solidFill>
                <a:latin typeface="Work Sans Light"/>
                <a:ea typeface="Work Sans Light"/>
                <a:cs typeface="Work Sans Light"/>
                <a:sym typeface="Work Sans Light"/>
              </a:rPr>
              <a:t>).Se realizaron las conclusiones con: (</a:t>
            </a:r>
            <a:r>
              <a:rPr lang="es-MX" sz="1600" u="sng" dirty="0">
                <a:solidFill>
                  <a:schemeClr val="hlink"/>
                </a:solidFill>
                <a:latin typeface="Work Sans Light"/>
                <a:ea typeface="Work Sans Light"/>
                <a:cs typeface="Work Sans Light"/>
                <a:sym typeface="Work Sans Light"/>
                <a:hlinkClick r:id="rId6"/>
              </a:rPr>
              <a:t>link de los resultados</a:t>
            </a:r>
            <a:r>
              <a:rPr lang="es-MX" sz="1600" dirty="0">
                <a:solidFill>
                  <a:schemeClr val="dk1"/>
                </a:solidFill>
                <a:latin typeface="Work Sans Light"/>
                <a:ea typeface="Work Sans Light"/>
                <a:cs typeface="Work Sans Light"/>
                <a:sym typeface="Work Sans Light"/>
              </a:rPr>
              <a:t>):</a:t>
            </a:r>
            <a:endParaRPr sz="1600" dirty="0">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Teniendo en cuenta la recolección de información y los procesos de la empresa, las necesidades encontradas es el alcance de clientes y la automatización de las facturación </a:t>
            </a: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proceso:</a:t>
            </a:r>
            <a:endParaRPr sz="1600" dirty="0">
              <a:solidFill>
                <a:schemeClr val="dk1"/>
              </a:solidFill>
              <a:latin typeface="Work Sans Light"/>
              <a:ea typeface="Work Sans Light"/>
              <a:cs typeface="Work Sans Light"/>
              <a:sym typeface="Work Sans Light"/>
            </a:endParaRPr>
          </a:p>
          <a:p>
            <a:pPr marL="457200" marR="0" lvl="0" indent="-330200" algn="l" rtl="0">
              <a:spcBef>
                <a:spcPts val="0"/>
              </a:spcBef>
              <a:spcAft>
                <a:spcPts val="0"/>
              </a:spcAft>
              <a:buClr>
                <a:schemeClr val="dk1"/>
              </a:buClr>
              <a:buSzPts val="1600"/>
              <a:buFont typeface="Work Sans Light"/>
              <a:buChar char="●"/>
            </a:pPr>
            <a:r>
              <a:rPr lang="es-MX" sz="1600" dirty="0">
                <a:solidFill>
                  <a:schemeClr val="dk1"/>
                </a:solidFill>
                <a:latin typeface="Work Sans Light"/>
                <a:ea typeface="Work Sans Light"/>
                <a:cs typeface="Work Sans Light"/>
                <a:sym typeface="Work Sans Light"/>
              </a:rPr>
              <a:t>El procesos venta e inventario: el proceso del inventario consiste en registrar en un cuaderno en donde se registran los pedidos por clientes, en el cual se detallan: estilos, colores, tallas.</a:t>
            </a:r>
            <a:endParaRPr sz="1600" dirty="0">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En el proceso de venta, se registra en un cuaderno de facturas, el total de la venta y el saldo pendiente, con el fin de saber los gastos de insumo y el saldo queda a favor. De esta manera, se concluye que es necesaria una optimización de los procesos de inventario y venta.</a:t>
            </a:r>
            <a:endParaRPr sz="1600" dirty="0">
              <a:solidFill>
                <a:schemeClr val="dk1"/>
              </a:solidFill>
              <a:latin typeface="Work Sans Light"/>
              <a:ea typeface="Work Sans Light"/>
              <a:cs typeface="Work Sans Light"/>
              <a:sym typeface="Work Sans Light"/>
            </a:endParaRPr>
          </a:p>
          <a:p>
            <a:pPr marL="457200" marR="0" lvl="0" indent="-330200" algn="l" rtl="0">
              <a:spcBef>
                <a:spcPts val="0"/>
              </a:spcBef>
              <a:spcAft>
                <a:spcPts val="0"/>
              </a:spcAft>
              <a:buClr>
                <a:schemeClr val="dk1"/>
              </a:buClr>
              <a:buSzPts val="1600"/>
              <a:buFont typeface="Work Sans Light"/>
              <a:buChar char="●"/>
            </a:pPr>
            <a:r>
              <a:rPr lang="es-MX" sz="1600" dirty="0">
                <a:solidFill>
                  <a:schemeClr val="dk1"/>
                </a:solidFill>
                <a:latin typeface="Work Sans Light"/>
                <a:ea typeface="Work Sans Light"/>
                <a:cs typeface="Work Sans Light"/>
                <a:sym typeface="Work Sans Light"/>
              </a:rPr>
              <a:t>El proceso de pagos: el proceso de pagos se realiza mediante un pago en efectivo, una transferencia bancaria o una transferencia de </a:t>
            </a:r>
            <a:r>
              <a:rPr lang="es-MX" sz="1600" dirty="0" err="1">
                <a:solidFill>
                  <a:schemeClr val="dk1"/>
                </a:solidFill>
                <a:latin typeface="Work Sans Light"/>
                <a:ea typeface="Work Sans Light"/>
                <a:cs typeface="Work Sans Light"/>
                <a:sym typeface="Work Sans Light"/>
              </a:rPr>
              <a:t>neobancos</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nequi</a:t>
            </a:r>
            <a:r>
              <a:rPr lang="es-MX" sz="1600" dirty="0">
                <a:solidFill>
                  <a:schemeClr val="dk1"/>
                </a:solidFill>
                <a:latin typeface="Work Sans Light"/>
                <a:ea typeface="Work Sans Light"/>
                <a:cs typeface="Work Sans Light"/>
                <a:sym typeface="Work Sans Light"/>
              </a:rPr>
              <a:t> o </a:t>
            </a:r>
            <a:r>
              <a:rPr lang="es-MX" sz="1600" dirty="0" err="1">
                <a:solidFill>
                  <a:schemeClr val="dk1"/>
                </a:solidFill>
                <a:latin typeface="Work Sans Light"/>
                <a:ea typeface="Work Sans Light"/>
                <a:cs typeface="Work Sans Light"/>
                <a:sym typeface="Work Sans Light"/>
              </a:rPr>
              <a:t>daviplata</a:t>
            </a:r>
            <a:r>
              <a:rPr lang="es-MX" sz="1600" dirty="0">
                <a:solidFill>
                  <a:schemeClr val="dk1"/>
                </a:solidFill>
                <a:latin typeface="Work Sans Light"/>
                <a:ea typeface="Work Sans Light"/>
                <a:cs typeface="Work Sans Light"/>
                <a:sym typeface="Work Sans Light"/>
              </a:rPr>
              <a:t>). Aunque el método funciona, se concluye que es necesaria una optimización para lograr un mayor control e integración con los demás procesos.</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Work Sans Light"/>
              <a:ea typeface="Work Sans Light"/>
              <a:cs typeface="Work Sans Light"/>
              <a:sym typeface="Work Sans Light"/>
            </a:endParaRPr>
          </a:p>
        </p:txBody>
      </p:sp>
      <p:pic>
        <p:nvPicPr>
          <p:cNvPr id="142" name="Google Shape;142;g36393dac501_0_0"/>
          <p:cNvPicPr preferRelativeResize="0"/>
          <p:nvPr/>
        </p:nvPicPr>
        <p:blipFill>
          <a:blip r:embed="rId7">
            <a:alphaModFix/>
          </a:blip>
          <a:stretch>
            <a:fillRect/>
          </a:stretch>
        </p:blipFill>
        <p:spPr>
          <a:xfrm>
            <a:off x="9846091" y="351912"/>
            <a:ext cx="875109" cy="842700"/>
          </a:xfrm>
          <a:prstGeom prst="rect">
            <a:avLst/>
          </a:prstGeom>
          <a:noFill/>
          <a:ln>
            <a:noFill/>
          </a:ln>
        </p:spPr>
      </p:pic>
      <p:pic>
        <p:nvPicPr>
          <p:cNvPr id="143" name="Google Shape;143;g36393dac501_0_0"/>
          <p:cNvPicPr preferRelativeResize="0"/>
          <p:nvPr/>
        </p:nvPicPr>
        <p:blipFill>
          <a:blip r:embed="rId7">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FAE1EDB6-BB23-1473-62AE-4CE222232915}"/>
              </a:ext>
            </a:extLst>
          </p:cNvPr>
          <p:cNvPicPr>
            <a:picLocks noChangeAspect="1"/>
          </p:cNvPicPr>
          <p:nvPr/>
        </p:nvPicPr>
        <p:blipFill>
          <a:blip r:embed="rId8"/>
          <a:stretch>
            <a:fillRect/>
          </a:stretch>
        </p:blipFill>
        <p:spPr>
          <a:xfrm>
            <a:off x="8378378" y="164723"/>
            <a:ext cx="1217077" cy="12170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E2257B7-B879-7BF2-1AA3-A1130E6FA51E}"/>
            </a:ext>
          </a:extLst>
        </p:cNvPr>
        <p:cNvGrpSpPr/>
        <p:nvPr/>
      </p:nvGrpSpPr>
      <p:grpSpPr>
        <a:xfrm>
          <a:off x="0" y="0"/>
          <a:ext cx="0" cy="0"/>
          <a:chOff x="0" y="0"/>
          <a:chExt cx="0" cy="0"/>
        </a:xfrm>
      </p:grpSpPr>
      <p:sp>
        <p:nvSpPr>
          <p:cNvPr id="140" name="Google Shape;140;g36393dac501_0_0">
            <a:extLst>
              <a:ext uri="{FF2B5EF4-FFF2-40B4-BE49-F238E27FC236}">
                <a16:creationId xmlns:a16="http://schemas.microsoft.com/office/drawing/2014/main" id="{1B78450E-7AE0-AF8C-E667-06ADE65C60D5}"/>
              </a:ext>
            </a:extLst>
          </p:cNvPr>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41" name="Google Shape;141;g36393dac501_0_0">
            <a:extLst>
              <a:ext uri="{FF2B5EF4-FFF2-40B4-BE49-F238E27FC236}">
                <a16:creationId xmlns:a16="http://schemas.microsoft.com/office/drawing/2014/main" id="{E9AD4244-DB38-2F2E-D20C-1B90C402A021}"/>
              </a:ext>
            </a:extLst>
          </p:cNvPr>
          <p:cNvSpPr txBox="1"/>
          <p:nvPr/>
        </p:nvSpPr>
        <p:spPr>
          <a:xfrm>
            <a:off x="372353" y="1667521"/>
            <a:ext cx="11447400" cy="1077178"/>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proceso:</a:t>
            </a:r>
            <a:endParaRPr sz="1600" dirty="0">
              <a:solidFill>
                <a:schemeClr val="dk1"/>
              </a:solidFill>
              <a:latin typeface="Work Sans Light"/>
              <a:ea typeface="Work Sans Light"/>
              <a:cs typeface="Work Sans Light"/>
              <a:sym typeface="Work Sans Light"/>
            </a:endParaRPr>
          </a:p>
          <a:p>
            <a:pPr marL="457200" marR="0" lvl="0" indent="-330200" algn="l" rtl="0">
              <a:spcBef>
                <a:spcPts val="0"/>
              </a:spcBef>
              <a:spcAft>
                <a:spcPts val="0"/>
              </a:spcAft>
              <a:buClr>
                <a:schemeClr val="dk1"/>
              </a:buClr>
              <a:buSzPts val="1600"/>
              <a:buFont typeface="Work Sans Light"/>
              <a:buChar char="●"/>
            </a:pPr>
            <a:r>
              <a:rPr lang="es-MX" sz="1600" dirty="0">
                <a:solidFill>
                  <a:schemeClr val="dk1"/>
                </a:solidFill>
                <a:latin typeface="Work Sans Light"/>
                <a:ea typeface="Work Sans Light"/>
                <a:cs typeface="Work Sans Light"/>
                <a:sym typeface="Work Sans Light"/>
              </a:rPr>
              <a:t>El proceso de promociones y descuentos: el proceso de promociones y descuentos consiste en dar un descuento por la compra de un producto de un calzado y un bolso se le da una rebaja de un porcentaje del total de la compra al cliente</a:t>
            </a:r>
            <a:endParaRPr sz="1600" dirty="0">
              <a:solidFill>
                <a:schemeClr val="dk1"/>
              </a:solidFill>
              <a:latin typeface="Work Sans Light"/>
              <a:ea typeface="Work Sans Light"/>
              <a:cs typeface="Work Sans Light"/>
              <a:sym typeface="Work Sans Light"/>
            </a:endParaRPr>
          </a:p>
        </p:txBody>
      </p:sp>
      <p:pic>
        <p:nvPicPr>
          <p:cNvPr id="142" name="Google Shape;142;g36393dac501_0_0">
            <a:extLst>
              <a:ext uri="{FF2B5EF4-FFF2-40B4-BE49-F238E27FC236}">
                <a16:creationId xmlns:a16="http://schemas.microsoft.com/office/drawing/2014/main" id="{77528107-6AF9-0DCF-DB02-3072A001BE3A}"/>
              </a:ext>
            </a:extLst>
          </p:cNvPr>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43" name="Google Shape;143;g36393dac501_0_0">
            <a:extLst>
              <a:ext uri="{FF2B5EF4-FFF2-40B4-BE49-F238E27FC236}">
                <a16:creationId xmlns:a16="http://schemas.microsoft.com/office/drawing/2014/main" id="{A4C9270D-39D3-8A07-66CF-88628E3663F3}"/>
              </a:ext>
            </a:extLst>
          </p:cNvPr>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B981FEA9-ACFE-A46A-334E-C641A7660B58}"/>
              </a:ext>
            </a:extLst>
          </p:cNvPr>
          <p:cNvPicPr>
            <a:picLocks noChangeAspect="1"/>
          </p:cNvPicPr>
          <p:nvPr/>
        </p:nvPicPr>
        <p:blipFill>
          <a:blip r:embed="rId4"/>
          <a:stretch>
            <a:fillRect/>
          </a:stretch>
        </p:blipFill>
        <p:spPr>
          <a:xfrm>
            <a:off x="8378378" y="164723"/>
            <a:ext cx="1217077" cy="1217077"/>
          </a:xfrm>
          <a:prstGeom prst="rect">
            <a:avLst/>
          </a:prstGeom>
        </p:spPr>
      </p:pic>
    </p:spTree>
    <p:extLst>
      <p:ext uri="{BB962C8B-B14F-4D97-AF65-F5344CB8AC3E}">
        <p14:creationId xmlns:p14="http://schemas.microsoft.com/office/powerpoint/2010/main" val="342474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6393dac501_3_0"/>
          <p:cNvSpPr/>
          <p:nvPr/>
        </p:nvSpPr>
        <p:spPr>
          <a:xfrm>
            <a:off x="1314043" y="1369915"/>
            <a:ext cx="35274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g36393dac501_3_0"/>
          <p:cNvSpPr txBox="1"/>
          <p:nvPr/>
        </p:nvSpPr>
        <p:spPr>
          <a:xfrm>
            <a:off x="1039259" y="1040536"/>
            <a:ext cx="4077000" cy="6765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General</a:t>
            </a:r>
            <a:endParaRPr/>
          </a:p>
        </p:txBody>
      </p:sp>
      <p:sp>
        <p:nvSpPr>
          <p:cNvPr id="151" name="Google Shape;151;g36393dac501_3_0"/>
          <p:cNvSpPr txBox="1"/>
          <p:nvPr/>
        </p:nvSpPr>
        <p:spPr>
          <a:xfrm>
            <a:off x="1247943" y="2700940"/>
            <a:ext cx="5043000" cy="181584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MX" sz="1600" dirty="0">
                <a:solidFill>
                  <a:schemeClr val="dk1"/>
                </a:solidFill>
                <a:latin typeface="Work Sans Light"/>
                <a:ea typeface="Work Sans Light"/>
                <a:cs typeface="Work Sans Light"/>
                <a:sym typeface="Work Sans Light"/>
              </a:rPr>
              <a:t>Desarrollar e implementar un Sistema de Información Web </a:t>
            </a:r>
            <a:r>
              <a:rPr lang="es-MX" sz="1500" dirty="0" err="1">
                <a:solidFill>
                  <a:srgbClr val="0C0C0C"/>
                </a:solidFill>
                <a:latin typeface="Work Sans Light"/>
                <a:ea typeface="Work Sans Light"/>
                <a:cs typeface="Work Sans Light"/>
                <a:sym typeface="Work Sans Light"/>
              </a:rPr>
              <a:t>Zéfiro</a:t>
            </a:r>
            <a:r>
              <a:rPr lang="es-MX" sz="1600" dirty="0">
                <a:solidFill>
                  <a:schemeClr val="dk1"/>
                </a:solidFill>
                <a:latin typeface="Work Sans Light"/>
                <a:ea typeface="Work Sans Light"/>
                <a:cs typeface="Work Sans Light"/>
                <a:sym typeface="Work Sans Light"/>
              </a:rPr>
              <a:t> para la gestión de productos, pedidos y promociones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permitiendo a los usuarios navegar, seleccionar y adquirir productos de calzado y bolsos de forma intuitiva, segura y eficiente.</a:t>
            </a:r>
            <a:endParaRPr sz="1100" dirty="0">
              <a:solidFill>
                <a:schemeClr val="dk1"/>
              </a:solidFill>
            </a:endParaRPr>
          </a:p>
        </p:txBody>
      </p:sp>
      <p:pic>
        <p:nvPicPr>
          <p:cNvPr id="152" name="Google Shape;152;g36393dac501_3_0"/>
          <p:cNvPicPr preferRelativeResize="0"/>
          <p:nvPr/>
        </p:nvPicPr>
        <p:blipFill>
          <a:blip r:embed="rId3">
            <a:alphaModFix/>
          </a:blip>
          <a:stretch>
            <a:fillRect/>
          </a:stretch>
        </p:blipFill>
        <p:spPr>
          <a:xfrm>
            <a:off x="7214050" y="85125"/>
            <a:ext cx="5720524" cy="7153426"/>
          </a:xfrm>
          <a:prstGeom prst="rect">
            <a:avLst/>
          </a:prstGeom>
          <a:noFill/>
          <a:ln>
            <a:noFill/>
          </a:ln>
        </p:spPr>
      </p:pic>
      <p:pic>
        <p:nvPicPr>
          <p:cNvPr id="153" name="Google Shape;153;g36393dac501_3_0"/>
          <p:cNvPicPr preferRelativeResize="0"/>
          <p:nvPr/>
        </p:nvPicPr>
        <p:blipFill>
          <a:blip r:embed="rId4">
            <a:alphaModFix/>
          </a:blip>
          <a:stretch>
            <a:fillRect/>
          </a:stretch>
        </p:blipFill>
        <p:spPr>
          <a:xfrm>
            <a:off x="7214050" y="0"/>
            <a:ext cx="5720525" cy="7085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6393dac501_6_2"/>
          <p:cNvSpPr/>
          <p:nvPr/>
        </p:nvSpPr>
        <p:spPr>
          <a:xfrm>
            <a:off x="614446" y="587655"/>
            <a:ext cx="41661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g36393dac501_6_2"/>
          <p:cNvSpPr txBox="1"/>
          <p:nvPr/>
        </p:nvSpPr>
        <p:spPr>
          <a:xfrm>
            <a:off x="614455" y="323178"/>
            <a:ext cx="40770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160" name="Google Shape;160;g36393dac501_6_2"/>
          <p:cNvSpPr txBox="1"/>
          <p:nvPr/>
        </p:nvSpPr>
        <p:spPr>
          <a:xfrm>
            <a:off x="321750" y="934750"/>
            <a:ext cx="6947700" cy="6003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a:solidFill>
                <a:schemeClr val="dk1"/>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los usuarios de la empresa Innovation Fusion, mediante funcionalidades de registro, inicio de sesión y recuperación de contraseña, garantizando seguridad, acceso controlado y facilidad de uso.</a:t>
            </a:r>
            <a:endParaRPr sz="1600">
              <a:solidFill>
                <a:schemeClr val="dk1"/>
              </a:solidFill>
              <a:latin typeface="Work Sans Light"/>
              <a:ea typeface="Work Sans Light"/>
              <a:cs typeface="Work Sans Light"/>
              <a:sym typeface="Work Sans Light"/>
            </a:endParaRPr>
          </a:p>
          <a:p>
            <a:pPr marL="457200" marR="0" lvl="0" indent="0" algn="l" rtl="0">
              <a:lnSpc>
                <a:spcPct val="100000"/>
              </a:lnSpc>
              <a:spcBef>
                <a:spcPts val="0"/>
              </a:spcBef>
              <a:spcAft>
                <a:spcPts val="0"/>
              </a:spcAft>
              <a:buNone/>
            </a:pPr>
            <a:endParaRPr sz="1600">
              <a:solidFill>
                <a:schemeClr val="dk1"/>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los productos de la empresa Innovation Fusion, mediante el registro, actualización, consulta y eliminación de los mismos, asegurando un control eficiente de inventario y disponibilidad en el catálogo de la empresa.</a:t>
            </a:r>
            <a:endParaRPr sz="1600">
              <a:solidFill>
                <a:schemeClr val="dk1"/>
              </a:solidFill>
              <a:latin typeface="Work Sans Light"/>
              <a:ea typeface="Work Sans Light"/>
              <a:cs typeface="Work Sans Light"/>
              <a:sym typeface="Work Sans Light"/>
            </a:endParaRPr>
          </a:p>
          <a:p>
            <a:pPr marL="457200" marR="0" lvl="0" indent="0" algn="l" rtl="0">
              <a:lnSpc>
                <a:spcPct val="100000"/>
              </a:lnSpc>
              <a:spcBef>
                <a:spcPts val="0"/>
              </a:spcBef>
              <a:spcAft>
                <a:spcPts val="0"/>
              </a:spcAft>
              <a:buNone/>
            </a:pPr>
            <a:endParaRPr sz="1600">
              <a:solidFill>
                <a:schemeClr val="dk1"/>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las ventas de la empresa Innovation Fusion, mediante la generación de tickets y control de pedidos, con el fin de optimizar el proceso de comercialización y brindar trazabilidad a las transacciones.</a:t>
            </a:r>
            <a:endParaRPr sz="1600">
              <a:solidFill>
                <a:schemeClr val="dk1"/>
              </a:solidFill>
              <a:latin typeface="Work Sans Light"/>
              <a:ea typeface="Work Sans Light"/>
              <a:cs typeface="Work Sans Light"/>
              <a:sym typeface="Work Sans Light"/>
            </a:endParaRPr>
          </a:p>
          <a:p>
            <a:pPr marL="457200" marR="0" lvl="0" indent="0" algn="l" rtl="0">
              <a:lnSpc>
                <a:spcPct val="100000"/>
              </a:lnSpc>
              <a:spcBef>
                <a:spcPts val="0"/>
              </a:spcBef>
              <a:spcAft>
                <a:spcPts val="0"/>
              </a:spcAft>
              <a:buNone/>
            </a:pPr>
            <a:endParaRPr sz="1600">
              <a:solidFill>
                <a:schemeClr val="dk1"/>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el proceso de pago en Innovation Fusion, incorporando múltiples métodos de pago, validaciones y una experiencia de compra fluida y segura.</a:t>
            </a:r>
            <a:br>
              <a:rPr lang="es-MX" sz="1600">
                <a:solidFill>
                  <a:schemeClr val="dk1"/>
                </a:solidFill>
                <a:latin typeface="Work Sans Light"/>
                <a:ea typeface="Work Sans Light"/>
                <a:cs typeface="Work Sans Light"/>
                <a:sym typeface="Work Sans Light"/>
              </a:rPr>
            </a:br>
            <a:endParaRPr sz="1600">
              <a:solidFill>
                <a:schemeClr val="dk1"/>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las promociones y descuentos ofrecidos por Innovation Fusion, facilitando su administración por parte del personal y generando incentivos para compras repetidas y captación de nuevos clientes.</a:t>
            </a:r>
            <a:endParaRPr sz="1600">
              <a:solidFill>
                <a:schemeClr val="dk1"/>
              </a:solidFill>
              <a:latin typeface="Work Sans Light"/>
              <a:ea typeface="Work Sans Light"/>
              <a:cs typeface="Work Sans Light"/>
              <a:sym typeface="Work Sans Light"/>
            </a:endParaRPr>
          </a:p>
        </p:txBody>
      </p:sp>
      <p:pic>
        <p:nvPicPr>
          <p:cNvPr id="161" name="Google Shape;161;g36393dac501_6_2"/>
          <p:cNvPicPr preferRelativeResize="0"/>
          <p:nvPr/>
        </p:nvPicPr>
        <p:blipFill>
          <a:blip r:embed="rId3">
            <a:alphaModFix/>
          </a:blip>
          <a:stretch>
            <a:fillRect/>
          </a:stretch>
        </p:blipFill>
        <p:spPr>
          <a:xfrm>
            <a:off x="7446025" y="105238"/>
            <a:ext cx="4870726" cy="6647524"/>
          </a:xfrm>
          <a:prstGeom prst="rect">
            <a:avLst/>
          </a:prstGeom>
          <a:noFill/>
          <a:ln>
            <a:noFill/>
          </a:ln>
        </p:spPr>
      </p:pic>
      <p:pic>
        <p:nvPicPr>
          <p:cNvPr id="162" name="Google Shape;162;g36393dac501_6_2"/>
          <p:cNvPicPr preferRelativeResize="0"/>
          <p:nvPr/>
        </p:nvPicPr>
        <p:blipFill>
          <a:blip r:embed="rId4">
            <a:alphaModFix/>
          </a:blip>
          <a:stretch>
            <a:fillRect/>
          </a:stretch>
        </p:blipFill>
        <p:spPr>
          <a:xfrm>
            <a:off x="7446025" y="105238"/>
            <a:ext cx="4870726" cy="6647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68" name="Google Shape;168;g36393dac501_4_0"/>
          <p:cNvSpPr txBox="1"/>
          <p:nvPr/>
        </p:nvSpPr>
        <p:spPr>
          <a:xfrm>
            <a:off x="372353" y="1667521"/>
            <a:ext cx="11447400" cy="477049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Se propone el desarrollo de un Sistema de Información Web denominado </a:t>
            </a:r>
            <a:r>
              <a:rPr lang="es-MX" sz="1500" dirty="0" err="1">
                <a:solidFill>
                  <a:srgbClr val="0C0C0C"/>
                </a:solidFill>
                <a:latin typeface="Work Sans Light"/>
                <a:ea typeface="Work Sans Light"/>
                <a:cs typeface="Work Sans Light"/>
                <a:sym typeface="Work Sans Light"/>
              </a:rPr>
              <a:t>Zéfiro</a:t>
            </a:r>
            <a:r>
              <a:rPr lang="es-MX" sz="1600" dirty="0">
                <a:solidFill>
                  <a:schemeClr val="dk1"/>
                </a:solidFill>
                <a:latin typeface="Work Sans Light"/>
                <a:ea typeface="Work Sans Light"/>
                <a:cs typeface="Work Sans Light"/>
                <a:sym typeface="Work Sans Light"/>
              </a:rPr>
              <a:t> que sirva como herramienta software de apoyo al seguimiento de los procesos de la comercialización del producto, y el proceso de la facturación manual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a:t>
            </a:r>
            <a:endParaRPr sz="1600" dirty="0">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La importancia del Sistema: Permitirá la gestión de los compradores y los Administradores como usuarios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En el Modulo de catalogo de productos los compradores y administradores podrán gestionar el catálogo. </a:t>
            </a: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usuarios:</a:t>
            </a:r>
            <a:br>
              <a:rPr lang="es-MX" sz="1600" b="1" dirty="0">
                <a:solidFill>
                  <a:schemeClr val="dk1"/>
                </a:solidFill>
                <a:latin typeface="Work Sans"/>
                <a:ea typeface="Work Sans"/>
                <a:cs typeface="Work Sans"/>
                <a:sym typeface="Work Sans"/>
              </a:rPr>
            </a:br>
            <a:r>
              <a:rPr lang="es-MX" sz="1600" dirty="0">
                <a:solidFill>
                  <a:schemeClr val="dk1"/>
                </a:solidFill>
                <a:latin typeface="Work Sans"/>
                <a:ea typeface="Work Sans"/>
                <a:cs typeface="Work Sans"/>
                <a:sym typeface="Work Sans"/>
              </a:rPr>
              <a:t> </a:t>
            </a:r>
            <a:r>
              <a:rPr lang="es-MX" sz="1600" dirty="0">
                <a:solidFill>
                  <a:schemeClr val="dk1"/>
                </a:solidFill>
                <a:latin typeface="Work Sans Light"/>
                <a:ea typeface="Work Sans Light"/>
                <a:cs typeface="Work Sans Light"/>
                <a:sym typeface="Work Sans Light"/>
              </a:rPr>
              <a:t>Compradores y administradores podrán: editar la información de los usuarios y agregar administradores</a:t>
            </a: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compras:</a:t>
            </a:r>
            <a:br>
              <a:rPr lang="es-MX" sz="1600" b="1" dirty="0">
                <a:solidFill>
                  <a:schemeClr val="dk1"/>
                </a:solidFill>
                <a:latin typeface="Work Sans"/>
                <a:ea typeface="Work Sans"/>
                <a:cs typeface="Work Sans"/>
                <a:sym typeface="Work Sans"/>
              </a:rPr>
            </a:br>
            <a:r>
              <a:rPr lang="es-MX" sz="1600" dirty="0">
                <a:solidFill>
                  <a:schemeClr val="dk1"/>
                </a:solidFill>
                <a:latin typeface="Work Sans"/>
                <a:ea typeface="Work Sans"/>
                <a:cs typeface="Work Sans"/>
                <a:sym typeface="Work Sans"/>
              </a:rPr>
              <a:t> </a:t>
            </a:r>
            <a:r>
              <a:rPr lang="es-MX" sz="1600" dirty="0">
                <a:solidFill>
                  <a:schemeClr val="dk1"/>
                </a:solidFill>
                <a:latin typeface="Work Sans Light"/>
                <a:ea typeface="Work Sans Light"/>
                <a:cs typeface="Work Sans Light"/>
                <a:sym typeface="Work Sans Light"/>
              </a:rPr>
              <a:t>Compradores y administradores podrán: manejar el carrito de compras y podrán ponerle a un producto promociones.</a:t>
            </a: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pedidos:</a:t>
            </a:r>
            <a:br>
              <a:rPr lang="es-MX" sz="1600" b="1" dirty="0">
                <a:solidFill>
                  <a:schemeClr val="dk1"/>
                </a:solidFill>
                <a:latin typeface="Work Sans"/>
                <a:ea typeface="Work Sans"/>
                <a:cs typeface="Work Sans"/>
                <a:sym typeface="Work Sans"/>
              </a:rPr>
            </a:br>
            <a:r>
              <a:rPr lang="es-MX" sz="1600" dirty="0">
                <a:solidFill>
                  <a:schemeClr val="dk1"/>
                </a:solidFill>
                <a:latin typeface="Work Sans Light"/>
                <a:ea typeface="Work Sans Light"/>
                <a:cs typeface="Work Sans Light"/>
                <a:sym typeface="Work Sans Light"/>
              </a:rPr>
              <a:t> Compradores y administradores  podrán: tener la posibilidad de consultar sus pedidos y actualizarlos según sea necesario.</a:t>
            </a:r>
            <a:endParaRPr sz="1600" dirty="0">
              <a:solidFill>
                <a:schemeClr val="dk1"/>
              </a:solidFill>
              <a:latin typeface="Work Sans Light"/>
              <a:ea typeface="Work Sans Light"/>
              <a:cs typeface="Work Sans Light"/>
              <a:sym typeface="Work Sans Light"/>
            </a:endParaRPr>
          </a:p>
          <a:p>
            <a:pPr marL="457200" lvl="0" indent="0" algn="l" rtl="0">
              <a:spcBef>
                <a:spcPts val="0"/>
              </a:spcBef>
              <a:spcAft>
                <a:spcPts val="0"/>
              </a:spcAft>
              <a:buNone/>
            </a:pPr>
            <a:endParaRPr sz="1600" dirty="0">
              <a:solidFill>
                <a:schemeClr val="dk1"/>
              </a:solidFill>
              <a:latin typeface="Work Sans"/>
              <a:ea typeface="Work Sans"/>
              <a:cs typeface="Work Sans"/>
              <a:sym typeface="Work Sans"/>
            </a:endParaRPr>
          </a:p>
          <a:p>
            <a:pPr marL="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endParaRPr sz="1600" b="1" dirty="0">
              <a:solidFill>
                <a:schemeClr val="dk1"/>
              </a:solidFill>
              <a:latin typeface="Work Sans Light"/>
              <a:ea typeface="Work Sans Light"/>
              <a:cs typeface="Work Sans Light"/>
              <a:sym typeface="Work Sans Light"/>
            </a:endParaRPr>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160249" y="164723"/>
            <a:ext cx="1217077" cy="12170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9"/>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Justificación</a:t>
            </a:r>
            <a:endParaRPr/>
          </a:p>
        </p:txBody>
      </p:sp>
      <p:sp>
        <p:nvSpPr>
          <p:cNvPr id="178" name="Google Shape;178;p9"/>
          <p:cNvSpPr txBox="1"/>
          <p:nvPr/>
        </p:nvSpPr>
        <p:spPr>
          <a:xfrm>
            <a:off x="372353" y="1667521"/>
            <a:ext cx="11447400" cy="4316100"/>
          </a:xfrm>
          <a:prstGeom prst="rect">
            <a:avLst/>
          </a:prstGeom>
          <a:noFill/>
          <a:ln>
            <a:noFill/>
          </a:ln>
        </p:spPr>
        <p:txBody>
          <a:bodyPr spcFirstLastPara="1" wrap="square" lIns="91425" tIns="45700" rIns="91425" bIns="45700" anchor="t" anchorCtr="0">
            <a:spAutoFit/>
          </a:bodyPr>
          <a:lstStyle/>
          <a:p>
            <a:pPr marL="457200" lvl="0" indent="-330200" algn="l" rtl="0">
              <a:spcBef>
                <a:spcPts val="0"/>
              </a:spcBef>
              <a:spcAft>
                <a:spcPts val="0"/>
              </a:spcAft>
              <a:buClr>
                <a:schemeClr val="dk1"/>
              </a:buClr>
              <a:buSzPts val="1600"/>
              <a:buFont typeface="Work Sans Light"/>
              <a:buChar char="●"/>
            </a:pPr>
            <a:r>
              <a:rPr lang="es-MX" sz="1600" b="1">
                <a:solidFill>
                  <a:schemeClr val="dk1"/>
                </a:solidFill>
                <a:latin typeface="Work Sans"/>
                <a:ea typeface="Work Sans"/>
                <a:cs typeface="Work Sans"/>
                <a:sym typeface="Work Sans"/>
              </a:rPr>
              <a:t>Módulo de administrador:</a:t>
            </a:r>
            <a:br>
              <a:rPr lang="es-MX" sz="1600" b="1">
                <a:solidFill>
                  <a:schemeClr val="dk1"/>
                </a:solidFill>
                <a:latin typeface="Work Sans"/>
                <a:ea typeface="Work Sans"/>
                <a:cs typeface="Work Sans"/>
                <a:sym typeface="Work Sans"/>
              </a:rPr>
            </a:br>
            <a:r>
              <a:rPr lang="es-MX" sz="1600">
                <a:solidFill>
                  <a:schemeClr val="dk1"/>
                </a:solidFill>
                <a:latin typeface="Work Sans"/>
                <a:ea typeface="Work Sans"/>
                <a:cs typeface="Work Sans"/>
                <a:sym typeface="Work Sans"/>
              </a:rPr>
              <a:t> </a:t>
            </a:r>
            <a:r>
              <a:rPr lang="es-MX" sz="1600">
                <a:solidFill>
                  <a:schemeClr val="dk1"/>
                </a:solidFill>
                <a:latin typeface="Work Sans Light"/>
                <a:ea typeface="Work Sans Light"/>
                <a:cs typeface="Work Sans Light"/>
                <a:sym typeface="Work Sans Light"/>
              </a:rPr>
              <a:t>los administradores podrán: gestionar el inventario de productos, incluyendo la visibilidad y actualización de los datos de cada artículo.</a:t>
            </a:r>
            <a:endParaRPr sz="1600">
              <a:solidFill>
                <a:schemeClr val="dk1"/>
              </a:solidFill>
              <a:latin typeface="Work Sans Light"/>
              <a:ea typeface="Work Sans Light"/>
              <a:cs typeface="Work Sans Light"/>
              <a:sym typeface="Work Sans Light"/>
            </a:endParaRPr>
          </a:p>
          <a:p>
            <a:pPr marL="457200" lvl="0" indent="-330200" algn="l" rtl="0">
              <a:spcBef>
                <a:spcPts val="0"/>
              </a:spcBef>
              <a:spcAft>
                <a:spcPts val="0"/>
              </a:spcAft>
              <a:buClr>
                <a:schemeClr val="dk1"/>
              </a:buClr>
              <a:buSzPts val="1600"/>
              <a:buFont typeface="Work Sans Light"/>
              <a:buChar char="●"/>
            </a:pPr>
            <a:r>
              <a:rPr lang="es-MX" sz="1600" b="1">
                <a:solidFill>
                  <a:schemeClr val="dk1"/>
                </a:solidFill>
                <a:latin typeface="Work Sans"/>
                <a:ea typeface="Work Sans"/>
                <a:cs typeface="Work Sans"/>
                <a:sym typeface="Work Sans"/>
              </a:rPr>
              <a:t>Módulo de promociones y descuentos:</a:t>
            </a:r>
            <a:br>
              <a:rPr lang="es-MX" sz="1600" b="1">
                <a:solidFill>
                  <a:schemeClr val="dk1"/>
                </a:solidFill>
                <a:latin typeface="Work Sans"/>
                <a:ea typeface="Work Sans"/>
                <a:cs typeface="Work Sans"/>
                <a:sym typeface="Work Sans"/>
              </a:rPr>
            </a:br>
            <a:r>
              <a:rPr lang="es-MX" sz="1600">
                <a:solidFill>
                  <a:schemeClr val="dk1"/>
                </a:solidFill>
                <a:latin typeface="Work Sans"/>
                <a:ea typeface="Work Sans"/>
                <a:cs typeface="Work Sans"/>
                <a:sym typeface="Work Sans"/>
              </a:rPr>
              <a:t> </a:t>
            </a:r>
            <a:r>
              <a:rPr lang="es-MX" sz="1600">
                <a:solidFill>
                  <a:schemeClr val="dk1"/>
                </a:solidFill>
                <a:latin typeface="Work Sans Light"/>
                <a:ea typeface="Work Sans Light"/>
                <a:cs typeface="Work Sans Light"/>
                <a:sym typeface="Work Sans Light"/>
              </a:rPr>
              <a:t>Compradores y administradores podrán: usar las promociones disponibles, gestionar las colecciones y descuentos</a:t>
            </a:r>
            <a:r>
              <a:rPr lang="es-MX" sz="1600">
                <a:solidFill>
                  <a:schemeClr val="dk1"/>
                </a:solidFill>
                <a:latin typeface="Work Sans"/>
                <a:ea typeface="Work Sans"/>
                <a:cs typeface="Work Sans"/>
                <a:sym typeface="Work Sans"/>
              </a:rPr>
              <a:t>.</a:t>
            </a:r>
            <a:endParaRPr sz="1600" b="1">
              <a:solidFill>
                <a:schemeClr val="dk1"/>
              </a:solidFill>
              <a:latin typeface="Work Sans"/>
              <a:ea typeface="Work Sans"/>
              <a:cs typeface="Work Sans"/>
              <a:sym typeface="Work Sans"/>
            </a:endParaRPr>
          </a:p>
          <a:p>
            <a:pPr marL="457200" lvl="0" indent="-330200" algn="l" rtl="0">
              <a:lnSpc>
                <a:spcPct val="115000"/>
              </a:lnSpc>
              <a:spcBef>
                <a:spcPts val="0"/>
              </a:spcBef>
              <a:spcAft>
                <a:spcPts val="0"/>
              </a:spcAft>
              <a:buClr>
                <a:schemeClr val="dk1"/>
              </a:buClr>
              <a:buSzPts val="1600"/>
              <a:buChar char="●"/>
            </a:pPr>
            <a:r>
              <a:rPr lang="es-MX" sz="1600" b="1">
                <a:solidFill>
                  <a:schemeClr val="dk1"/>
                </a:solidFill>
                <a:latin typeface="Work Sans"/>
                <a:ea typeface="Work Sans"/>
                <a:cs typeface="Work Sans"/>
                <a:sym typeface="Work Sans"/>
              </a:rPr>
              <a:t>Módulo de notificaciones y soporte:</a:t>
            </a:r>
            <a:br>
              <a:rPr lang="es-MX" sz="1600" b="1">
                <a:solidFill>
                  <a:schemeClr val="dk1"/>
                </a:solidFill>
                <a:latin typeface="Work Sans"/>
                <a:ea typeface="Work Sans"/>
                <a:cs typeface="Work Sans"/>
                <a:sym typeface="Work Sans"/>
              </a:rPr>
            </a:br>
            <a:r>
              <a:rPr lang="es-MX" sz="1600">
                <a:solidFill>
                  <a:schemeClr val="dk1"/>
                </a:solidFill>
                <a:latin typeface="Work Sans Light"/>
                <a:ea typeface="Work Sans Light"/>
                <a:cs typeface="Work Sans Light"/>
                <a:sym typeface="Work Sans Light"/>
              </a:rPr>
              <a:t> Compradores podrán: acceder a soporte mediante chat y los administradores serán responsables de gestionar las solicitudes de ayuda y brindar respuestas.</a:t>
            </a:r>
            <a:endParaRPr sz="1600">
              <a:solidFill>
                <a:schemeClr val="dk1"/>
              </a:solidFill>
              <a:latin typeface="Work Sans Light"/>
              <a:ea typeface="Work Sans Light"/>
              <a:cs typeface="Work Sans Light"/>
              <a:sym typeface="Work Sans Light"/>
            </a:endParaRPr>
          </a:p>
          <a:p>
            <a:pPr marL="457200" lvl="0" indent="-330200" algn="l" rtl="0">
              <a:lnSpc>
                <a:spcPct val="115000"/>
              </a:lnSpc>
              <a:spcBef>
                <a:spcPts val="0"/>
              </a:spcBef>
              <a:spcAft>
                <a:spcPts val="0"/>
              </a:spcAft>
              <a:buClr>
                <a:schemeClr val="dk1"/>
              </a:buClr>
              <a:buSzPts val="1600"/>
              <a:buChar char="●"/>
            </a:pPr>
            <a:r>
              <a:rPr lang="es-MX" sz="1600" b="1">
                <a:solidFill>
                  <a:schemeClr val="dk1"/>
                </a:solidFill>
                <a:latin typeface="Work Sans"/>
                <a:ea typeface="Work Sans"/>
                <a:cs typeface="Work Sans"/>
                <a:sym typeface="Work Sans"/>
              </a:rPr>
              <a:t>Reportes y estadísticas:</a:t>
            </a:r>
            <a:br>
              <a:rPr lang="es-MX" sz="1600" b="1">
                <a:solidFill>
                  <a:schemeClr val="dk1"/>
                </a:solidFill>
                <a:latin typeface="Work Sans"/>
                <a:ea typeface="Work Sans"/>
                <a:cs typeface="Work Sans"/>
                <a:sym typeface="Work Sans"/>
              </a:rPr>
            </a:br>
            <a:r>
              <a:rPr lang="es-MX" sz="1600">
                <a:solidFill>
                  <a:schemeClr val="dk1"/>
                </a:solidFill>
                <a:latin typeface="Work Sans Light"/>
                <a:ea typeface="Work Sans Light"/>
                <a:cs typeface="Work Sans Light"/>
                <a:sym typeface="Work Sans Light"/>
              </a:rPr>
              <a:t> El sistema permitirá a los administradores generar reportes gráficos e impresos, útiles para la toma de decisiones estratégicas.</a:t>
            </a:r>
            <a:endParaRPr sz="1600">
              <a:solidFill>
                <a:schemeClr val="dk1"/>
              </a:solidFill>
              <a:latin typeface="Work Sans Light"/>
              <a:ea typeface="Work Sans Light"/>
              <a:cs typeface="Work Sans Light"/>
              <a:sym typeface="Work Sans Light"/>
            </a:endParaRPr>
          </a:p>
          <a:p>
            <a:pPr marL="0" lvl="0" indent="0" algn="l" rtl="0">
              <a:spcBef>
                <a:spcPts val="1200"/>
              </a:spcBef>
              <a:spcAft>
                <a:spcPts val="0"/>
              </a:spcAft>
              <a:buNone/>
            </a:pPr>
            <a:endParaRPr sz="160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endParaRPr sz="160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1200"/>
              </a:spcAft>
              <a:buClr>
                <a:schemeClr val="dk1"/>
              </a:buClr>
              <a:buSzPts val="1100"/>
              <a:buFont typeface="Arial"/>
              <a:buNone/>
            </a:pPr>
            <a:endParaRPr sz="1600">
              <a:solidFill>
                <a:schemeClr val="dk1"/>
              </a:solidFill>
              <a:latin typeface="Work Sans Light"/>
              <a:ea typeface="Work Sans Light"/>
              <a:cs typeface="Work Sans Light"/>
              <a:sym typeface="Work Sans Light"/>
            </a:endParaRPr>
          </a:p>
        </p:txBody>
      </p:sp>
      <p:pic>
        <p:nvPicPr>
          <p:cNvPr id="179" name="Google Shape;179;p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80" name="Google Shape;180;p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99C76A1A-E541-9B5B-7DED-37EB7E9D6D7B}"/>
              </a:ext>
            </a:extLst>
          </p:cNvPr>
          <p:cNvPicPr>
            <a:picLocks noChangeAspect="1"/>
          </p:cNvPicPr>
          <p:nvPr/>
        </p:nvPicPr>
        <p:blipFill>
          <a:blip r:embed="rId4"/>
          <a:stretch>
            <a:fillRect/>
          </a:stretch>
        </p:blipFill>
        <p:spPr>
          <a:xfrm>
            <a:off x="8378378" y="164723"/>
            <a:ext cx="1217077" cy="12170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88" name="Google Shape;188;p10"/>
          <p:cNvSpPr txBox="1"/>
          <p:nvPr/>
        </p:nvSpPr>
        <p:spPr>
          <a:xfrm>
            <a:off x="3149325" y="1890313"/>
            <a:ext cx="8737200" cy="181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Usuarios del sistema podrán iniciar sesión, administrar su perfil, ver catálogo de productos organizado por filtros de búsqueda, agregar estos al carrito o a favoritos, una vez se tengan productos en el carrito de compras podrán seleccionar los productos a comprar, posterior a esto el cliente facilitará al aplicativo su método de pago, y lugar de envío. Una vez el cliente haya recibido su producto podrá valorar este en una escala de 5 estrellas y dejar una breve descripción de su experiencia. La empresa no realiza facturacion por la DIAN genera un ticket o comprobante de venta </a:t>
            </a:r>
            <a:endParaRPr sz="1600">
              <a:solidFill>
                <a:schemeClr val="dk1"/>
              </a:solidFill>
              <a:latin typeface="Work Sans Light"/>
              <a:ea typeface="Work Sans Light"/>
              <a:cs typeface="Work Sans Light"/>
              <a:sym typeface="Work Sans Light"/>
            </a:endParaRPr>
          </a:p>
        </p:txBody>
      </p:sp>
      <p:pic>
        <p:nvPicPr>
          <p:cNvPr id="189" name="Google Shape;189;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90" name="Google Shape;190;p10"/>
          <p:cNvPicPr preferRelativeResize="0"/>
          <p:nvPr/>
        </p:nvPicPr>
        <p:blipFill>
          <a:blip r:embed="rId4">
            <a:alphaModFix/>
          </a:blip>
          <a:stretch>
            <a:fillRect/>
          </a:stretch>
        </p:blipFill>
        <p:spPr>
          <a:xfrm>
            <a:off x="405700" y="1541549"/>
            <a:ext cx="2267425" cy="2267425"/>
          </a:xfrm>
          <a:prstGeom prst="rect">
            <a:avLst/>
          </a:prstGeom>
          <a:noFill/>
          <a:ln>
            <a:noFill/>
          </a:ln>
        </p:spPr>
      </p:pic>
      <p:sp>
        <p:nvSpPr>
          <p:cNvPr id="191" name="Google Shape;191;p10"/>
          <p:cNvSpPr txBox="1"/>
          <p:nvPr/>
        </p:nvSpPr>
        <p:spPr>
          <a:xfrm>
            <a:off x="280825" y="4620450"/>
            <a:ext cx="87372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Administrador(es) del sistema podrán iniciar sesión, administrar la visibilidad de productos según su stock, gestionar los datos de estos como el precio, descripción, entre otros. Además podrán eliminar valoraciones de productos que infrinjan las normas de protección al usuario.</a:t>
            </a:r>
            <a:endParaRPr/>
          </a:p>
        </p:txBody>
      </p:sp>
      <p:pic>
        <p:nvPicPr>
          <p:cNvPr id="192" name="Google Shape;192;p10"/>
          <p:cNvPicPr preferRelativeResize="0"/>
          <p:nvPr/>
        </p:nvPicPr>
        <p:blipFill>
          <a:blip r:embed="rId5">
            <a:alphaModFix/>
          </a:blip>
          <a:stretch>
            <a:fillRect/>
          </a:stretch>
        </p:blipFill>
        <p:spPr>
          <a:xfrm>
            <a:off x="9339200" y="3864301"/>
            <a:ext cx="2397175" cy="2397175"/>
          </a:xfrm>
          <a:prstGeom prst="rect">
            <a:avLst/>
          </a:prstGeom>
          <a:noFill/>
          <a:ln>
            <a:noFill/>
          </a:ln>
        </p:spPr>
      </p:pic>
      <p:pic>
        <p:nvPicPr>
          <p:cNvPr id="193" name="Google Shape;193;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3D4760B4-944F-2F2A-1A61-4192CCCAA611}"/>
              </a:ext>
            </a:extLst>
          </p:cNvPr>
          <p:cNvPicPr>
            <a:picLocks noChangeAspect="1"/>
          </p:cNvPicPr>
          <p:nvPr/>
        </p:nvPicPr>
        <p:blipFill>
          <a:blip r:embed="rId6"/>
          <a:stretch>
            <a:fillRect/>
          </a:stretch>
        </p:blipFill>
        <p:spPr>
          <a:xfrm>
            <a:off x="8378378" y="164723"/>
            <a:ext cx="1217077" cy="1217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1"/>
          <p:cNvSpPr txBox="1"/>
          <p:nvPr/>
        </p:nvSpPr>
        <p:spPr>
          <a:xfrm>
            <a:off x="456236" y="434948"/>
            <a:ext cx="105156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Alcance</a:t>
            </a:r>
            <a:endParaRPr/>
          </a:p>
        </p:txBody>
      </p:sp>
      <p:sp>
        <p:nvSpPr>
          <p:cNvPr id="201" name="Google Shape;201;p11"/>
          <p:cNvSpPr txBox="1"/>
          <p:nvPr/>
        </p:nvSpPr>
        <p:spPr>
          <a:xfrm>
            <a:off x="4012450" y="1882675"/>
            <a:ext cx="72924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El sistema no envía los productos al cliente, el sistema es un intermediario entre el cliente y la empresa para que este pueda adquirir los productos de esta respectivamente. Los envíos son responsabilidad de Innovation Fusion y la empresa de envíos.</a:t>
            </a:r>
            <a:endParaRPr/>
          </a:p>
        </p:txBody>
      </p:sp>
      <p:pic>
        <p:nvPicPr>
          <p:cNvPr id="202" name="Google Shape;202;p11"/>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03" name="Google Shape;203;p11"/>
          <p:cNvPicPr preferRelativeResize="0"/>
          <p:nvPr/>
        </p:nvPicPr>
        <p:blipFill>
          <a:blip r:embed="rId4">
            <a:alphaModFix/>
          </a:blip>
          <a:stretch>
            <a:fillRect/>
          </a:stretch>
        </p:blipFill>
        <p:spPr>
          <a:xfrm>
            <a:off x="734050" y="1553263"/>
            <a:ext cx="1905000" cy="1905000"/>
          </a:xfrm>
          <a:prstGeom prst="rect">
            <a:avLst/>
          </a:prstGeom>
          <a:noFill/>
          <a:ln>
            <a:noFill/>
          </a:ln>
        </p:spPr>
      </p:pic>
      <p:sp>
        <p:nvSpPr>
          <p:cNvPr id="204" name="Google Shape;204;p11"/>
          <p:cNvSpPr txBox="1"/>
          <p:nvPr/>
        </p:nvSpPr>
        <p:spPr>
          <a:xfrm>
            <a:off x="827850" y="4275825"/>
            <a:ext cx="6837000" cy="132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El aplicativo está siendo realizado bajo el patrón arquitectónico MVC (modelo vista controlador), usando como lenguaje de programación JAVA (JDK 21), Se usa React (React 19.1) como framework para el frontend del aplicativo, (SPRINGBOOT 3.5.5) , (</a:t>
            </a:r>
            <a:r>
              <a:rPr lang="es-MX" sz="1600" u="sng">
                <a:solidFill>
                  <a:schemeClr val="hlink"/>
                </a:solidFill>
                <a:latin typeface="Work Sans Light"/>
                <a:ea typeface="Work Sans Light"/>
                <a:cs typeface="Work Sans Light"/>
                <a:sym typeface="Work Sans Light"/>
                <a:hlinkClick r:id="rId5"/>
              </a:rPr>
              <a:t>NODE.JS</a:t>
            </a:r>
            <a:r>
              <a:rPr lang="es-MX" sz="1600">
                <a:solidFill>
                  <a:schemeClr val="dk1"/>
                </a:solidFill>
                <a:latin typeface="Work Sans Light"/>
                <a:ea typeface="Work Sans Light"/>
                <a:cs typeface="Work Sans Light"/>
                <a:sym typeface="Work Sans Light"/>
              </a:rPr>
              <a:t> 22.18.0) Y (NPM 10.9.3)</a:t>
            </a:r>
            <a:endParaRPr/>
          </a:p>
        </p:txBody>
      </p:sp>
      <p:pic>
        <p:nvPicPr>
          <p:cNvPr id="205" name="Google Shape;205;p11"/>
          <p:cNvPicPr preferRelativeResize="0"/>
          <p:nvPr/>
        </p:nvPicPr>
        <p:blipFill>
          <a:blip r:embed="rId6">
            <a:alphaModFix/>
          </a:blip>
          <a:stretch>
            <a:fillRect/>
          </a:stretch>
        </p:blipFill>
        <p:spPr>
          <a:xfrm>
            <a:off x="8189000" y="3794178"/>
            <a:ext cx="3472425" cy="2040600"/>
          </a:xfrm>
          <a:prstGeom prst="rect">
            <a:avLst/>
          </a:prstGeom>
          <a:noFill/>
          <a:ln>
            <a:noFill/>
          </a:ln>
        </p:spPr>
      </p:pic>
      <p:pic>
        <p:nvPicPr>
          <p:cNvPr id="206" name="Google Shape;206;p11"/>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899C0858-8D2E-F02C-C9FF-0DF32F2CC0AA}"/>
              </a:ext>
            </a:extLst>
          </p:cNvPr>
          <p:cNvPicPr>
            <a:picLocks noChangeAspect="1"/>
          </p:cNvPicPr>
          <p:nvPr/>
        </p:nvPicPr>
        <p:blipFill>
          <a:blip r:embed="rId7"/>
          <a:stretch>
            <a:fillRect/>
          </a:stretch>
        </p:blipFill>
        <p:spPr>
          <a:xfrm>
            <a:off x="8378378" y="164723"/>
            <a:ext cx="1217077" cy="12170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4"/>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15" name="Google Shape;215;p14"/>
          <p:cNvSpPr/>
          <p:nvPr/>
        </p:nvSpPr>
        <p:spPr>
          <a:xfrm>
            <a:off x="579652" y="1787235"/>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4"/>
          <p:cNvSpPr txBox="1"/>
          <p:nvPr/>
        </p:nvSpPr>
        <p:spPr>
          <a:xfrm>
            <a:off x="456213" y="1926673"/>
            <a:ext cx="3854400" cy="41868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Nombre proyecto - Objetivo general - Objetivos especí­ficos - Planteamiento del problema y pregunta problema - Alcance del proyecto - Justificación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BPMN del proceso de negocio, no del aplicativo a desarrollar)</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Técnicas de recolección de información y análisis de resultados estadística descriptiva </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Estándar IEEE Std 830-1998, IEEE 1233-1998, IEEE 29148:2018.</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Diagrama de casos de uso y documentación de casos de uso (formato de casos de uso extendido).</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Validación de requerimientos (Realización de un prototipo usando mockups o wireframes)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Fichas técnicas. </a:t>
            </a:r>
            <a:endParaRPr>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a:solidFill>
                <a:schemeClr val="dk1"/>
              </a:solidFill>
              <a:latin typeface="Work Sans Light"/>
              <a:ea typeface="Work Sans Light"/>
              <a:cs typeface="Work Sans Light"/>
              <a:sym typeface="Work Sans Light"/>
            </a:endParaRPr>
          </a:p>
        </p:txBody>
      </p:sp>
      <p:grpSp>
        <p:nvGrpSpPr>
          <p:cNvPr id="217" name="Google Shape;217;p14"/>
          <p:cNvGrpSpPr/>
          <p:nvPr/>
        </p:nvGrpSpPr>
        <p:grpSpPr>
          <a:xfrm>
            <a:off x="518475" y="1483910"/>
            <a:ext cx="3239100" cy="294480"/>
            <a:chOff x="126603" y="-1251822"/>
            <a:chExt cx="3239100" cy="2796582"/>
          </a:xfrm>
        </p:grpSpPr>
        <p:sp>
          <p:nvSpPr>
            <p:cNvPr id="218" name="Google Shape;218;p14"/>
            <p:cNvSpPr/>
            <p:nvPr/>
          </p:nvSpPr>
          <p:spPr>
            <a:xfrm>
              <a:off x="922388" y="1499160"/>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4"/>
            <p:cNvSpPr txBox="1"/>
            <p:nvPr/>
          </p:nvSpPr>
          <p:spPr>
            <a:xfrm>
              <a:off x="126603" y="-125182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Segundo Trimestre</a:t>
              </a:r>
              <a:endParaRPr/>
            </a:p>
          </p:txBody>
        </p:sp>
      </p:grpSp>
      <p:grpSp>
        <p:nvGrpSpPr>
          <p:cNvPr id="220" name="Google Shape;220;p14"/>
          <p:cNvGrpSpPr/>
          <p:nvPr/>
        </p:nvGrpSpPr>
        <p:grpSpPr>
          <a:xfrm>
            <a:off x="5250780" y="1586425"/>
            <a:ext cx="3328015" cy="447313"/>
            <a:chOff x="781688" y="1395228"/>
            <a:chExt cx="3328015" cy="447313"/>
          </a:xfrm>
        </p:grpSpPr>
        <p:sp>
          <p:nvSpPr>
            <p:cNvPr id="221" name="Google Shape;221;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4"/>
            <p:cNvSpPr txBox="1"/>
            <p:nvPr/>
          </p:nvSpPr>
          <p:spPr>
            <a:xfrm>
              <a:off x="870603" y="1395228"/>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Tercer Trimestre</a:t>
              </a:r>
              <a:endParaRPr/>
            </a:p>
          </p:txBody>
        </p:sp>
      </p:grpSp>
      <p:sp>
        <p:nvSpPr>
          <p:cNvPr id="223" name="Google Shape;223;p14"/>
          <p:cNvSpPr txBox="1"/>
          <p:nvPr/>
        </p:nvSpPr>
        <p:spPr>
          <a:xfrm>
            <a:off x="5220433" y="2184131"/>
            <a:ext cx="3854400" cy="2247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Modelo relacional notación crows foot</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Normalización del modelo relacional identificando las 3FN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En el proyecto se evidencia el diccionario de datos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Diagrama de clases.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Diagrama de distribución.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Prototipo navegable del software (Html - CSS)</a:t>
            </a:r>
            <a:endParaRPr>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endParaRPr>
              <a:solidFill>
                <a:schemeClr val="dk1"/>
              </a:solidFill>
              <a:latin typeface="Work Sans Light"/>
              <a:ea typeface="Work Sans Light"/>
              <a:cs typeface="Work Sans Light"/>
              <a:sym typeface="Work Sans Light"/>
            </a:endParaRPr>
          </a:p>
        </p:txBody>
      </p:sp>
      <p:grpSp>
        <p:nvGrpSpPr>
          <p:cNvPr id="224" name="Google Shape;224;p14"/>
          <p:cNvGrpSpPr/>
          <p:nvPr/>
        </p:nvGrpSpPr>
        <p:grpSpPr>
          <a:xfrm>
            <a:off x="5155290" y="4318019"/>
            <a:ext cx="3379040" cy="463794"/>
            <a:chOff x="846638" y="-350472"/>
            <a:chExt cx="3379040" cy="463794"/>
          </a:xfrm>
        </p:grpSpPr>
        <p:sp>
          <p:nvSpPr>
            <p:cNvPr id="225" name="Google Shape;225;p14"/>
            <p:cNvSpPr/>
            <p:nvPr/>
          </p:nvSpPr>
          <p:spPr>
            <a:xfrm>
              <a:off x="846638" y="67722"/>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4"/>
            <p:cNvSpPr txBox="1"/>
            <p:nvPr/>
          </p:nvSpPr>
          <p:spPr>
            <a:xfrm>
              <a:off x="986578" y="-35047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Cuarto Trimestre</a:t>
              </a:r>
              <a:endParaRPr/>
            </a:p>
          </p:txBody>
        </p:sp>
      </p:grpSp>
      <p:sp>
        <p:nvSpPr>
          <p:cNvPr id="227" name="Google Shape;227;p14"/>
          <p:cNvSpPr txBox="1"/>
          <p:nvPr/>
        </p:nvSpPr>
        <p:spPr>
          <a:xfrm>
            <a:off x="5220430" y="4781825"/>
            <a:ext cx="4941900" cy="13854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la construcción de la base de datos usando sentencias DDL (SQL)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Uso de la base de datos a través de sentencias DML (SQL),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Base de Datos con encriptación.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FrontEnd Funcional utilizando Framework </a:t>
            </a:r>
            <a:endParaRPr>
              <a:solidFill>
                <a:schemeClr val="dk1"/>
              </a:solidFill>
              <a:latin typeface="Work Sans Light"/>
              <a:ea typeface="Work Sans Light"/>
              <a:cs typeface="Work Sans Light"/>
              <a:sym typeface="Work Sans Light"/>
            </a:endParaRPr>
          </a:p>
        </p:txBody>
      </p:sp>
      <p:pic>
        <p:nvPicPr>
          <p:cNvPr id="228" name="Google Shape;228;p14"/>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65AA3F47-F50E-0FC9-4CE0-D77264A2FA99}"/>
              </a:ext>
            </a:extLst>
          </p:cNvPr>
          <p:cNvPicPr>
            <a:picLocks noChangeAspect="1"/>
          </p:cNvPicPr>
          <p:nvPr/>
        </p:nvPicPr>
        <p:blipFill>
          <a:blip r:embed="rId4"/>
          <a:stretch>
            <a:fillRect/>
          </a:stretch>
        </p:blipFill>
        <p:spPr>
          <a:xfrm>
            <a:off x="8378378" y="164723"/>
            <a:ext cx="1217077" cy="12170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48fab2c6ef_1_9"/>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37" name="Google Shape;237;g348fab2c6ef_1_9"/>
          <p:cNvSpPr/>
          <p:nvPr/>
        </p:nvSpPr>
        <p:spPr>
          <a:xfrm>
            <a:off x="579652" y="1787235"/>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g348fab2c6ef_1_9"/>
          <p:cNvSpPr txBox="1"/>
          <p:nvPr/>
        </p:nvSpPr>
        <p:spPr>
          <a:xfrm>
            <a:off x="456213" y="1926673"/>
            <a:ext cx="3854400" cy="2247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Las API REST de la solución sotware incluye seguridad</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Font typeface="Work Sans Light"/>
              <a:buChar char="•"/>
            </a:pPr>
            <a:r>
              <a:rPr lang="es-MX">
                <a:solidFill>
                  <a:schemeClr val="dk1"/>
                </a:solidFill>
                <a:latin typeface="Work Sans Light"/>
                <a:ea typeface="Work Sans Light"/>
                <a:cs typeface="Work Sans Light"/>
                <a:sym typeface="Work Sans Light"/>
              </a:rPr>
              <a:t>El front_end web de la solución software está hecha en Angular, Vue.js, React (u otro), consume la API REST y tiene un avance del 80%</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Font typeface="Work Sans Light"/>
              <a:buChar char="•"/>
            </a:pPr>
            <a:r>
              <a:rPr lang="es-MX">
                <a:solidFill>
                  <a:schemeClr val="dk1"/>
                </a:solidFill>
                <a:latin typeface="Work Sans Light"/>
                <a:ea typeface="Work Sans Light"/>
                <a:cs typeface="Work Sans Light"/>
                <a:sym typeface="Work Sans Light"/>
              </a:rPr>
              <a:t>Las entregas del trimestre de la solución software se hacen a través de un Sistema de Control de Versiones (SCV)</a:t>
            </a:r>
            <a:endParaRPr>
              <a:solidFill>
                <a:schemeClr val="dk1"/>
              </a:solidFill>
              <a:latin typeface="Work Sans Light"/>
              <a:ea typeface="Work Sans Light"/>
              <a:cs typeface="Work Sans Light"/>
              <a:sym typeface="Work Sans Light"/>
            </a:endParaRPr>
          </a:p>
        </p:txBody>
      </p:sp>
      <p:grpSp>
        <p:nvGrpSpPr>
          <p:cNvPr id="239" name="Google Shape;239;g348fab2c6ef_1_9"/>
          <p:cNvGrpSpPr/>
          <p:nvPr/>
        </p:nvGrpSpPr>
        <p:grpSpPr>
          <a:xfrm>
            <a:off x="518475" y="1483910"/>
            <a:ext cx="3239100" cy="294480"/>
            <a:chOff x="126603" y="-1251822"/>
            <a:chExt cx="3239100" cy="2796582"/>
          </a:xfrm>
        </p:grpSpPr>
        <p:sp>
          <p:nvSpPr>
            <p:cNvPr id="240" name="Google Shape;240;g348fab2c6ef_1_9"/>
            <p:cNvSpPr/>
            <p:nvPr/>
          </p:nvSpPr>
          <p:spPr>
            <a:xfrm>
              <a:off x="922388" y="1499160"/>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g348fab2c6ef_1_9"/>
            <p:cNvSpPr txBox="1"/>
            <p:nvPr/>
          </p:nvSpPr>
          <p:spPr>
            <a:xfrm>
              <a:off x="126603" y="-125182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Quinto Trimestre</a:t>
              </a:r>
              <a:endParaRPr/>
            </a:p>
          </p:txBody>
        </p:sp>
      </p:grpSp>
      <p:pic>
        <p:nvPicPr>
          <p:cNvPr id="242" name="Google Shape;242;g348fab2c6ef_1_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9008A25D-5C91-E9FE-F04A-9C7810FAB64E}"/>
              </a:ext>
            </a:extLst>
          </p:cNvPr>
          <p:cNvPicPr>
            <a:picLocks noChangeAspect="1"/>
          </p:cNvPicPr>
          <p:nvPr/>
        </p:nvPicPr>
        <p:blipFill>
          <a:blip r:embed="rId4"/>
          <a:stretch>
            <a:fillRect/>
          </a:stretch>
        </p:blipFill>
        <p:spPr>
          <a:xfrm>
            <a:off x="8378378" y="164723"/>
            <a:ext cx="1217077" cy="12170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15"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1754</Words>
  <Application>Microsoft Office PowerPoint</Application>
  <PresentationFormat>Panorámica</PresentationFormat>
  <Paragraphs>105</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Work Sans</vt:lpstr>
      <vt:lpstr>Calibri</vt:lpstr>
      <vt:lpstr>Work Sans Medium</vt:lpstr>
      <vt:lpstr>Work Sans Light</vt:lpstr>
      <vt:lpstr>Tema de Office</vt:lpstr>
      <vt:lpstr>Presentación de PowerPoint</vt:lpstr>
      <vt:lpstr>Presentación de PowerPoint</vt:lpstr>
      <vt:lpstr>Presentación de PowerPoint</vt:lpstr>
      <vt:lpstr>Presentación de PowerPoint</vt:lpstr>
      <vt:lpstr>Presentación de PowerPoint</vt:lpstr>
      <vt:lpstr>Problema</vt:lpstr>
      <vt:lpstr>Problema</vt:lpstr>
      <vt:lpstr>Presentación de PowerPoint</vt:lpstr>
      <vt:lpstr>Presentación de PowerPoint</vt:lpstr>
      <vt:lpstr>Justificación</vt:lpstr>
      <vt:lpstr>Presentación de PowerPoint</vt:lpstr>
      <vt:lpstr>Alcance</vt:lpstr>
      <vt:lpstr>Presentación de PowerPoint</vt:lpstr>
      <vt:lpstr>Entregables Proyecto Formativo por Trimestre</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Katherin Q</cp:lastModifiedBy>
  <cp:revision>1</cp:revision>
  <dcterms:created xsi:type="dcterms:W3CDTF">2020-10-01T23:51:28Z</dcterms:created>
  <dcterms:modified xsi:type="dcterms:W3CDTF">2025-10-29T19:57:13Z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