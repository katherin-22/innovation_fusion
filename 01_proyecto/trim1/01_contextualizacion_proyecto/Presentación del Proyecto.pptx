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71" r:id="rId8"/>
    <p:sldId id="262" r:id="rId9"/>
    <p:sldId id="263" r:id="rId10"/>
    <p:sldId id="264" r:id="rId11"/>
    <p:sldId id="265" r:id="rId12"/>
    <p:sldId id="266" r:id="rId13"/>
    <p:sldId id="267" r:id="rId14"/>
    <p:sldId id="268" r:id="rId15"/>
    <p:sldId id="269" r:id="rId16"/>
    <p:sldId id="270" r:id="rId17"/>
  </p:sldIdLst>
  <p:sldSz cx="12192000" cy="6858000"/>
  <p:notesSz cx="6858000" cy="9144000"/>
  <p:embeddedFontLst>
    <p:embeddedFont>
      <p:font typeface="Calibri" panose="020F0502020204030204" pitchFamily="34" charset="0"/>
      <p:regular r:id="rId19"/>
      <p:bold r:id="rId20"/>
      <p:italic r:id="rId21"/>
      <p:boldItalic r:id="rId22"/>
    </p:embeddedFont>
    <p:embeddedFont>
      <p:font typeface="Work Sans" pitchFamily="2" charset="0"/>
      <p:regular r:id="rId23"/>
      <p:bold r:id="rId24"/>
      <p:italic r:id="rId25"/>
      <p:boldItalic r:id="rId26"/>
    </p:embeddedFont>
    <p:embeddedFont>
      <p:font typeface="Work Sans Light" pitchFamily="2" charset="0"/>
      <p:regular r:id="rId27"/>
      <p:bold r:id="rId28"/>
      <p:italic r:id="rId29"/>
      <p:boldItalic r:id="rId30"/>
    </p:embeddedFont>
    <p:embeddedFont>
      <p:font typeface="Work Sans Medium" pitchFamily="2"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7" roundtripDataSignature="AMtx7mgGeO/vHCTEi/MJf6RnpC6vp81Q4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10B6C16-105A-48B9-B28C-AD33A7352A04}">
  <a:tblStyle styleId="{410B6C16-105A-48B9-B28C-AD33A7352A0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574" autoAdjust="0"/>
    <p:restoredTop sz="94660"/>
  </p:normalViewPr>
  <p:slideViewPr>
    <p:cSldViewPr snapToGrid="0">
      <p:cViewPr>
        <p:scale>
          <a:sx n="33" d="100"/>
          <a:sy n="33" d="100"/>
        </p:scale>
        <p:origin x="880"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viewProps" Target="viewProps.xml"/><Relationship Id="rId21" Type="http://schemas.openxmlformats.org/officeDocument/2006/relationships/font" Target="fonts/font3.fntdata"/><Relationship Id="rId34" Type="http://schemas.openxmlformats.org/officeDocument/2006/relationships/font" Target="fonts/font1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63988e416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g363988e416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63988e4161_0_2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g363988e4161_0_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6393dac50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11578A74-2E8D-07F9-8FF1-2A364FB4D3EC}"/>
            </a:ext>
          </a:extLst>
        </p:cNvPr>
        <p:cNvGrpSpPr/>
        <p:nvPr/>
      </p:nvGrpSpPr>
      <p:grpSpPr>
        <a:xfrm>
          <a:off x="0" y="0"/>
          <a:ext cx="0" cy="0"/>
          <a:chOff x="0" y="0"/>
          <a:chExt cx="0" cy="0"/>
        </a:xfrm>
      </p:grpSpPr>
      <p:sp>
        <p:nvSpPr>
          <p:cNvPr id="137" name="Google Shape;137;g36393dac501_0_0:notes">
            <a:extLst>
              <a:ext uri="{FF2B5EF4-FFF2-40B4-BE49-F238E27FC236}">
                <a16:creationId xmlns:a16="http://schemas.microsoft.com/office/drawing/2014/main" id="{498A3966-A0A3-5A12-807B-B17F11A03EF0}"/>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a:extLst>
              <a:ext uri="{FF2B5EF4-FFF2-40B4-BE49-F238E27FC236}">
                <a16:creationId xmlns:a16="http://schemas.microsoft.com/office/drawing/2014/main" id="{BED9EEDE-097B-A380-8383-AC915D5D40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3157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6393dac501_3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 name="Google Shape;147;g36393dac501_3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393dac501_6_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g36393dac501_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8" name="Google Shape;198;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48fab2c6ef_1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48fab2c6ef_1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8fab2c6ef_1_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forms.gle/mygN8hwspY6cPo2K6" TargetMode="External"/><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docs.google.com/document/d/1k89GukGZqF4sdMDzXDMdkwlsAVQvETv5/edit" TargetMode="External"/><Relationship Id="rId5" Type="http://schemas.openxmlformats.org/officeDocument/2006/relationships/hyperlink" Target="https://docs.google.com/document/d/19fb_yMSavdpKgo4-iXuHDx7MvqHGwpOrQmrW8WEoYcM/edit?tab=t.0" TargetMode="External"/><Relationship Id="rId4" Type="http://schemas.openxmlformats.org/officeDocument/2006/relationships/hyperlink" Target="https://docs.google.com/document/d/1hUNuXN74zkWklU7JHV1C2Eg7h8_buByc/edit?usp=sharing&amp;ouid=110984401584463252056&amp;rtpof=true&amp;sd=tru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hyperlink" Target="http://node.js" TargetMode="Externa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27400" y="2854475"/>
            <a:ext cx="5198100" cy="615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endParaRPr sz="3400" b="1">
              <a:solidFill>
                <a:srgbClr val="0C0C0C"/>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8573749" y="2185900"/>
            <a:ext cx="2626000" cy="2662575"/>
          </a:xfrm>
          <a:prstGeom prst="rect">
            <a:avLst/>
          </a:prstGeom>
          <a:noFill/>
          <a:ln>
            <a:noFill/>
          </a:ln>
        </p:spPr>
      </p:pic>
      <p:pic>
        <p:nvPicPr>
          <p:cNvPr id="3" name="Imagen 2">
            <a:extLst>
              <a:ext uri="{FF2B5EF4-FFF2-40B4-BE49-F238E27FC236}">
                <a16:creationId xmlns:a16="http://schemas.microsoft.com/office/drawing/2014/main" id="{98EBC749-0B0E-2CC5-825D-2EBAD87A3D7A}"/>
              </a:ext>
            </a:extLst>
          </p:cNvPr>
          <p:cNvPicPr>
            <a:picLocks noChangeAspect="1"/>
          </p:cNvPicPr>
          <p:nvPr/>
        </p:nvPicPr>
        <p:blipFill>
          <a:blip r:embed="rId4"/>
          <a:stretch>
            <a:fillRect/>
          </a:stretch>
        </p:blipFill>
        <p:spPr>
          <a:xfrm>
            <a:off x="4974279" y="2247108"/>
            <a:ext cx="2445934" cy="2445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2092050" y="709450"/>
            <a:ext cx="8007900" cy="2308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7200">
                <a:solidFill>
                  <a:schemeClr val="lt1"/>
                </a:solidFill>
                <a:latin typeface="Work Sans Light"/>
                <a:ea typeface="Work Sans Light"/>
                <a:cs typeface="Work Sans Light"/>
                <a:sym typeface="Work Sans Light"/>
              </a:rPr>
              <a:t>INNOVATION FUSION STORE</a:t>
            </a:r>
            <a:endParaRPr/>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1077300"/>
          </a:xfrm>
          <a:prstGeom prst="rect">
            <a:avLst/>
          </a:prstGeom>
          <a:noFill/>
          <a:ln>
            <a:noFill/>
          </a:ln>
        </p:spPr>
        <p:txBody>
          <a:bodyPr spcFirstLastPara="1" wrap="square" lIns="91425" tIns="45700" rIns="91425" bIns="45700" anchor="t" anchorCtr="0">
            <a:spAutoFit/>
          </a:bodyPr>
          <a:lstStyle/>
          <a:p>
            <a:pPr marL="0" marR="0" lvl="0" indent="457200" algn="l" rtl="0">
              <a:spcBef>
                <a:spcPts val="0"/>
              </a:spcBef>
              <a:spcAft>
                <a:spcPts val="0"/>
              </a:spcAft>
              <a:buNone/>
            </a:pPr>
            <a:r>
              <a:rPr lang="es-MX" sz="1600">
                <a:solidFill>
                  <a:schemeClr val="lt1"/>
                </a:solidFill>
                <a:latin typeface="Work Sans Light"/>
                <a:ea typeface="Work Sans Light"/>
                <a:cs typeface="Work Sans Light"/>
                <a:sym typeface="Work Sans Light"/>
              </a:rPr>
              <a:t>Bohorquez Diaz Daniela Lorena</a:t>
            </a:r>
            <a:endParaRPr sz="1600">
              <a:solidFill>
                <a:schemeClr val="lt1"/>
              </a:solidFill>
              <a:latin typeface="Work Sans Light"/>
              <a:ea typeface="Work Sans Light"/>
              <a:cs typeface="Work Sans Light"/>
              <a:sym typeface="Work Sans Light"/>
            </a:endParaRPr>
          </a:p>
          <a:p>
            <a:pPr marL="0" lvl="0" indent="0" algn="ctr" rtl="0">
              <a:spcBef>
                <a:spcPts val="0"/>
              </a:spcBef>
              <a:spcAft>
                <a:spcPts val="0"/>
              </a:spcAft>
              <a:buClr>
                <a:schemeClr val="dk1"/>
              </a:buClr>
              <a:buFont typeface="Arial"/>
              <a:buNone/>
            </a:pPr>
            <a:r>
              <a:rPr lang="es-MX" sz="1600">
                <a:solidFill>
                  <a:schemeClr val="lt1"/>
                </a:solidFill>
                <a:latin typeface="Work Sans Light"/>
                <a:ea typeface="Work Sans Light"/>
                <a:cs typeface="Work Sans Light"/>
                <a:sym typeface="Work Sans Light"/>
              </a:rPr>
              <a:t>Carvajal Bonilla Jhonatan</a:t>
            </a:r>
            <a:endParaRPr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Morcillo Quiroga Katherin</a:t>
            </a:r>
            <a:endParaRPr sz="24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Rachen Cardenas Brayan Santiago</a:t>
            </a:r>
            <a:endParaRPr sz="160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Tecnólogo en Análisis y Desarrollo de Software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30 de Julio de 2025</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g363988e4161_0_0"/>
          <p:cNvSpPr/>
          <p:nvPr/>
        </p:nvSpPr>
        <p:spPr>
          <a:xfrm>
            <a:off x="498593" y="494977"/>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g363988e4161_0_0"/>
          <p:cNvSpPr txBox="1"/>
          <p:nvPr/>
        </p:nvSpPr>
        <p:spPr>
          <a:xfrm>
            <a:off x="498595" y="27382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g363988e4161_0_0"/>
          <p:cNvSpPr txBox="1"/>
          <p:nvPr/>
        </p:nvSpPr>
        <p:spPr>
          <a:xfrm>
            <a:off x="413900" y="1014125"/>
            <a:ext cx="7197600" cy="5695200"/>
          </a:xfrm>
          <a:prstGeom prst="rect">
            <a:avLst/>
          </a:prstGeom>
          <a:noFill/>
          <a:ln>
            <a:noFill/>
          </a:ln>
        </p:spPr>
        <p:txBody>
          <a:bodyPr spcFirstLastPara="1" wrap="square" lIns="91425" tIns="45700" rIns="91425" bIns="45700" anchor="t" anchorCtr="0">
            <a:spAutoFit/>
          </a:bodyPr>
          <a:lstStyle/>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Innovation Fusion opera en los sectores industrial y comercial, fabricando y vendiendo calzado y bolsos. Su modelo de negocio se basa en replicar las últimas tendencias de moda. Actualmente, la gestión de pedidos, compras y ventas se realiza de forma manual, lo que genera grandes desafíos para su crecimiento y competitividad en el mercado actual.</a:t>
            </a:r>
            <a:endParaRPr sz="1100">
              <a:solidFill>
                <a:schemeClr val="dk1"/>
              </a:solidFill>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Problemática Central:</a:t>
            </a:r>
            <a:endParaRPr sz="1600" b="1">
              <a:solidFill>
                <a:schemeClr val="dk1"/>
              </a:solidFill>
              <a:latin typeface="Work Sans"/>
              <a:ea typeface="Work Sans"/>
              <a:cs typeface="Work Sans"/>
              <a:sym typeface="Work Sans"/>
            </a:endParaRPr>
          </a:p>
          <a:p>
            <a:pPr marL="0" lvl="0" indent="0" algn="just" rtl="0">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La principal dificultad de Innovation Fusion es la falta de una plataforma digital. Esto limita severamente su visibilidad y capacidad para atraer nuevos clientes, poniéndola en desventaja. El manejo manual de sus procesos operativos clave crea ineficiencias que dificultan enormemente la escalabilidad del negocio.</a:t>
            </a:r>
            <a:endParaRPr sz="1600">
              <a:solidFill>
                <a:schemeClr val="dk1"/>
              </a:solidFill>
              <a:latin typeface="Work Sans Light"/>
              <a:ea typeface="Work Sans Light"/>
              <a:cs typeface="Work Sans Light"/>
              <a:sym typeface="Work Sans Light"/>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Objetivos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objetivo general es desarrollar e implementar un Sistema de Información Web para Innovation Fusion. Este sistema facilitará la compra de calzado y bolsos de forma segura y eficiente. Los objetivos específicos incluyen gestionar usuarios, el catálogo de productos, el carrito de compras, los pagos, las promociones, las reseñas y la administración de descuentos.</a:t>
            </a:r>
            <a:endParaRPr sz="1600">
              <a:solidFill>
                <a:schemeClr val="dk1"/>
              </a:solidFill>
              <a:latin typeface="Work Sans Light"/>
              <a:ea typeface="Work Sans Light"/>
              <a:cs typeface="Work Sans Light"/>
              <a:sym typeface="Work Sans Light"/>
            </a:endParaRPr>
          </a:p>
        </p:txBody>
      </p:sp>
      <p:pic>
        <p:nvPicPr>
          <p:cNvPr id="119" name="Google Shape;119;g363988e4161_0_0"/>
          <p:cNvPicPr preferRelativeResize="0"/>
          <p:nvPr/>
        </p:nvPicPr>
        <p:blipFill>
          <a:blip r:embed="rId4">
            <a:alphaModFix/>
          </a:blip>
          <a:stretch>
            <a:fillRect/>
          </a:stretch>
        </p:blipFill>
        <p:spPr>
          <a:xfrm>
            <a:off x="7897404" y="0"/>
            <a:ext cx="4294595" cy="6858000"/>
          </a:xfrm>
          <a:prstGeom prst="rect">
            <a:avLst/>
          </a:prstGeom>
          <a:noFill/>
          <a:ln>
            <a:noFill/>
          </a:ln>
        </p:spPr>
      </p:pic>
      <p:pic>
        <p:nvPicPr>
          <p:cNvPr id="120" name="Google Shape;120;g363988e4161_0_0"/>
          <p:cNvPicPr preferRelativeResize="0"/>
          <p:nvPr/>
        </p:nvPicPr>
        <p:blipFill>
          <a:blip r:embed="rId5">
            <a:alphaModFix/>
          </a:blip>
          <a:stretch>
            <a:fillRect/>
          </a:stretch>
        </p:blipFill>
        <p:spPr>
          <a:xfrm>
            <a:off x="7912585" y="0"/>
            <a:ext cx="4264231"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4"/>
        <p:cNvGrpSpPr/>
        <p:nvPr/>
      </p:nvGrpSpPr>
      <p:grpSpPr>
        <a:xfrm>
          <a:off x="0" y="0"/>
          <a:ext cx="0" cy="0"/>
          <a:chOff x="0" y="0"/>
          <a:chExt cx="0" cy="0"/>
        </a:xfrm>
      </p:grpSpPr>
      <p:sp>
        <p:nvSpPr>
          <p:cNvPr id="125" name="Google Shape;125;g363988e4161_0_24"/>
          <p:cNvSpPr/>
          <p:nvPr/>
        </p:nvSpPr>
        <p:spPr>
          <a:xfrm>
            <a:off x="1786193" y="54935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g363988e4161_0_24"/>
          <p:cNvSpPr txBox="1"/>
          <p:nvPr/>
        </p:nvSpPr>
        <p:spPr>
          <a:xfrm>
            <a:off x="1786195" y="219949"/>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27" name="Google Shape;127;g363988e4161_0_24"/>
          <p:cNvSpPr txBox="1"/>
          <p:nvPr/>
        </p:nvSpPr>
        <p:spPr>
          <a:xfrm>
            <a:off x="1786200" y="896450"/>
            <a:ext cx="8619600" cy="5657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1200"/>
              </a:spcBef>
              <a:spcAft>
                <a:spcPts val="0"/>
              </a:spcAft>
              <a:buNone/>
            </a:pPr>
            <a:r>
              <a:rPr lang="es-MX" sz="1600" b="1">
                <a:solidFill>
                  <a:schemeClr val="dk1"/>
                </a:solidFill>
                <a:latin typeface="Work Sans"/>
                <a:ea typeface="Work Sans"/>
                <a:cs typeface="Work Sans"/>
                <a:sym typeface="Work Sans"/>
              </a:rPr>
              <a:t>Justificación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Este proyecto es crucial porque Innovation Fusion necesita modernizarse y digitalizar sus operaciones. Esto aumentará su visibilidad en el mercado, mejorará la eficiencia de sus procesos manuales y ofrecerá una experiencia de compra superior y moderna. La digitalización es esencial para su crecimiento y competitividad.</a:t>
            </a:r>
            <a:endParaRPr sz="160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600" b="1">
                <a:solidFill>
                  <a:schemeClr val="dk1"/>
                </a:solidFill>
                <a:latin typeface="Work Sans"/>
                <a:ea typeface="Work Sans"/>
                <a:cs typeface="Work Sans"/>
                <a:sym typeface="Work Sans"/>
              </a:rPr>
              <a:t>Alcance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El sistema abarcará el desarrollo de una aplicación web integral. Incluirá funcionalidades de comercio electrónico y administración completa de usuarios (clientes y administradores). Un proceso de compra automatizado, administración de inventario, implementación de promociones y generación de reportes para análisis de datos.</a:t>
            </a:r>
            <a:endParaRPr sz="160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700" b="1">
                <a:solidFill>
                  <a:schemeClr val="dk1"/>
                </a:solidFill>
              </a:rPr>
              <a:t> </a:t>
            </a:r>
            <a:r>
              <a:rPr lang="es-MX" sz="1600" b="1">
                <a:solidFill>
                  <a:schemeClr val="dk1"/>
                </a:solidFill>
                <a:latin typeface="Work Sans"/>
                <a:ea typeface="Work Sans"/>
                <a:cs typeface="Work Sans"/>
                <a:sym typeface="Work Sans"/>
              </a:rPr>
              <a:t>Delimitación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sistema se centrará en la interfaz web para la interacción con clientes y la gestión administrativa de ventas e inventario. No automatizará procesos físicos de manufactura (corte, cosido, pegado) ni la subcontratación de modelaje. La logística de envíos y devoluciones se gestionará a nivel de sistema, pero la operación física seguirá a cargo de terceros.</a:t>
            </a:r>
            <a:endParaRPr sz="1600">
              <a:solidFill>
                <a:schemeClr val="dk1"/>
              </a:solidFill>
              <a:latin typeface="Work Sans Light"/>
              <a:ea typeface="Work Sans Light"/>
              <a:cs typeface="Work Sans Light"/>
              <a:sym typeface="Work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1"/>
        <p:cNvGrpSpPr/>
        <p:nvPr/>
      </p:nvGrpSpPr>
      <p:grpSpPr>
        <a:xfrm>
          <a:off x="0" y="0"/>
          <a:ext cx="0" cy="0"/>
          <a:chOff x="0" y="0"/>
          <a:chExt cx="0" cy="0"/>
        </a:xfrm>
      </p:grpSpPr>
      <p:sp>
        <p:nvSpPr>
          <p:cNvPr id="132" name="Google Shape;132;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33" name="Google Shape;133;p4"/>
          <p:cNvSpPr txBox="1"/>
          <p:nvPr/>
        </p:nvSpPr>
        <p:spPr>
          <a:xfrm>
            <a:off x="6653014" y="2489547"/>
            <a:ext cx="4547400" cy="3540300"/>
          </a:xfrm>
          <a:prstGeom prst="rect">
            <a:avLst/>
          </a:prstGeom>
          <a:noFill/>
          <a:ln>
            <a:noFill/>
          </a:ln>
        </p:spPr>
        <p:txBody>
          <a:bodyPr spcFirstLastPara="1" wrap="square" lIns="91425" tIns="45700" rIns="91425" bIns="45700" anchor="t" anchorCtr="0">
            <a:spAutoFit/>
          </a:bodyPr>
          <a:lstStyle/>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Problema</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Objetivos</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Justificación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Alcance</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Delimitación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Entregables Trimestre</a:t>
            </a:r>
            <a:endParaRPr/>
          </a:p>
        </p:txBody>
      </p:sp>
      <p:pic>
        <p:nvPicPr>
          <p:cNvPr id="134" name="Google Shape;134;p4"/>
          <p:cNvPicPr preferRelativeResize="0"/>
          <p:nvPr/>
        </p:nvPicPr>
        <p:blipFill>
          <a:blip r:embed="rId4">
            <a:alphaModFix/>
          </a:blip>
          <a:stretch>
            <a:fillRect/>
          </a:stretch>
        </p:blipFill>
        <p:spPr>
          <a:xfrm>
            <a:off x="3573672" y="2820965"/>
            <a:ext cx="2251475" cy="2168075"/>
          </a:xfrm>
          <a:prstGeom prst="rect">
            <a:avLst/>
          </a:prstGeom>
          <a:noFill/>
          <a:ln>
            <a:noFill/>
          </a:ln>
        </p:spPr>
      </p:pic>
      <p:pic>
        <p:nvPicPr>
          <p:cNvPr id="2" name="Imagen 1">
            <a:extLst>
              <a:ext uri="{FF2B5EF4-FFF2-40B4-BE49-F238E27FC236}">
                <a16:creationId xmlns:a16="http://schemas.microsoft.com/office/drawing/2014/main" id="{7B5FBCF8-7ED3-B2CC-C930-7371119F4BA7}"/>
              </a:ext>
            </a:extLst>
          </p:cNvPr>
          <p:cNvPicPr>
            <a:picLocks noChangeAspect="1"/>
          </p:cNvPicPr>
          <p:nvPr/>
        </p:nvPicPr>
        <p:blipFill>
          <a:blip r:embed="rId5"/>
          <a:stretch>
            <a:fillRect/>
          </a:stretch>
        </p:blipFill>
        <p:spPr>
          <a:xfrm>
            <a:off x="713805" y="2682035"/>
            <a:ext cx="2445934" cy="24459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6393dac501_0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p:cNvSpPr txBox="1"/>
          <p:nvPr/>
        </p:nvSpPr>
        <p:spPr>
          <a:xfrm>
            <a:off x="372353" y="1667521"/>
            <a:ext cx="11447400" cy="50167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 una empresa ubicada en Bogotá dedicada a la fabricación y venta de calzado y bolsos. Su modelo de negocio se basa en el proceso de la manufactura de los insumos, el proceso de la comercialización del producto, y el proceso de la facturación manual</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r>
              <a:rPr lang="es-MX" sz="1600" dirty="0">
                <a:solidFill>
                  <a:schemeClr val="dk1"/>
                </a:solidFill>
                <a:latin typeface="Work Sans Light"/>
                <a:ea typeface="Work Sans Light"/>
                <a:cs typeface="Work Sans Light"/>
                <a:sym typeface="Work Sans Light"/>
              </a:rPr>
              <a:t>Se utilizaron técnicas de recolección de datos como lo fueron: la encuesta, la entrevista, el análisis de la competencia. En la encuesta se enfocó a posibles clientes de la empresa(</a:t>
            </a:r>
            <a:r>
              <a:rPr lang="es-MX" sz="1600" u="sng" dirty="0">
                <a:solidFill>
                  <a:schemeClr val="hlink"/>
                </a:solidFill>
                <a:latin typeface="Work Sans"/>
                <a:ea typeface="Work Sans"/>
                <a:cs typeface="Work Sans"/>
                <a:sym typeface="Work Sans"/>
                <a:hlinkClick r:id="rId3"/>
              </a:rPr>
              <a:t>link verla encuesta</a:t>
            </a:r>
            <a:r>
              <a:rPr lang="es-MX" sz="1600" dirty="0">
                <a:solidFill>
                  <a:schemeClr val="dk1"/>
                </a:solidFill>
                <a:latin typeface="Work Sans Light"/>
                <a:ea typeface="Work Sans Light"/>
                <a:cs typeface="Work Sans Light"/>
                <a:sym typeface="Work Sans Light"/>
              </a:rPr>
              <a:t>), se realizó una entrevista, donde se enfocó al gerente de la empresa (</a:t>
            </a:r>
            <a:r>
              <a:rPr lang="es-MX" sz="1600" u="sng" dirty="0">
                <a:solidFill>
                  <a:schemeClr val="hlink"/>
                </a:solidFill>
                <a:latin typeface="Work Sans Light"/>
                <a:ea typeface="Work Sans Light"/>
                <a:cs typeface="Work Sans Light"/>
                <a:sym typeface="Work Sans Light"/>
                <a:hlinkClick r:id="rId4"/>
              </a:rPr>
              <a:t>link de la entrevista</a:t>
            </a:r>
            <a:r>
              <a:rPr lang="es-MX" sz="1600" dirty="0">
                <a:solidFill>
                  <a:schemeClr val="dk1"/>
                </a:solidFill>
                <a:latin typeface="Work Sans Light"/>
                <a:ea typeface="Work Sans Light"/>
                <a:cs typeface="Work Sans Light"/>
                <a:sym typeface="Work Sans Light"/>
              </a:rPr>
              <a:t>)y un análisis de la competencia (</a:t>
            </a:r>
            <a:r>
              <a:rPr lang="es-MX" sz="1600" u="sng" dirty="0">
                <a:solidFill>
                  <a:schemeClr val="hlink"/>
                </a:solidFill>
                <a:latin typeface="Work Sans Light"/>
                <a:ea typeface="Work Sans Light"/>
                <a:cs typeface="Work Sans Light"/>
                <a:sym typeface="Work Sans Light"/>
                <a:hlinkClick r:id="rId5"/>
              </a:rPr>
              <a:t>link de competencia</a:t>
            </a:r>
            <a:r>
              <a:rPr lang="es-MX" sz="1600" dirty="0">
                <a:solidFill>
                  <a:schemeClr val="dk1"/>
                </a:solidFill>
                <a:latin typeface="Work Sans Light"/>
                <a:ea typeface="Work Sans Light"/>
                <a:cs typeface="Work Sans Light"/>
                <a:sym typeface="Work Sans Light"/>
              </a:rPr>
              <a:t>).Se realizaron las conclusiones con: (</a:t>
            </a:r>
            <a:r>
              <a:rPr lang="es-MX" sz="1600" u="sng" dirty="0">
                <a:solidFill>
                  <a:schemeClr val="hlink"/>
                </a:solidFill>
                <a:latin typeface="Work Sans Light"/>
                <a:ea typeface="Work Sans Light"/>
                <a:cs typeface="Work Sans Light"/>
                <a:sym typeface="Work Sans Light"/>
                <a:hlinkClick r:id="rId6"/>
              </a:rPr>
              <a:t>link de los resultados</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Teniendo en cuenta la recolección de información y los procesos de la empresa, las necesidades encontradas es el alcance de clientes y la automatización de las facturación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proceso:</a:t>
            </a: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procesos venta e inventario: el proceso del inventario consiste en registrar en un cuaderno en donde se registran los pedidos por clientes, en el cual se detallan: estilos, colores, tallas.</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En el proceso de venta, se registra en un cuaderno de facturas, el total de la venta y el saldo pendiente, con el fin de saber los gastos de insumo y el saldo queda a favor. De esta manera, se concluye que es necesaria una optimización de los procesos de inventario y venta.</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dirty="0">
              <a:solidFill>
                <a:schemeClr val="dk1"/>
              </a:solidFill>
              <a:latin typeface="Work Sans Light"/>
              <a:ea typeface="Work Sans Light"/>
              <a:cs typeface="Work Sans Light"/>
              <a:sym typeface="Work Sans Light"/>
            </a:endParaRPr>
          </a:p>
        </p:txBody>
      </p:sp>
      <p:pic>
        <p:nvPicPr>
          <p:cNvPr id="142" name="Google Shape;142;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FAE1EDB6-BB23-1473-62AE-4CE222232915}"/>
              </a:ext>
            </a:extLst>
          </p:cNvPr>
          <p:cNvPicPr>
            <a:picLocks noChangeAspect="1"/>
          </p:cNvPicPr>
          <p:nvPr/>
        </p:nvPicPr>
        <p:blipFill>
          <a:blip r:embed="rId8"/>
          <a:stretch>
            <a:fillRect/>
          </a:stretch>
        </p:blipFill>
        <p:spPr>
          <a:xfrm>
            <a:off x="8378378" y="164723"/>
            <a:ext cx="1217077" cy="121707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7E2257B7-B879-7BF2-1AA3-A1130E6FA51E}"/>
            </a:ext>
          </a:extLst>
        </p:cNvPr>
        <p:cNvGrpSpPr/>
        <p:nvPr/>
      </p:nvGrpSpPr>
      <p:grpSpPr>
        <a:xfrm>
          <a:off x="0" y="0"/>
          <a:ext cx="0" cy="0"/>
          <a:chOff x="0" y="0"/>
          <a:chExt cx="0" cy="0"/>
        </a:xfrm>
      </p:grpSpPr>
      <p:sp>
        <p:nvSpPr>
          <p:cNvPr id="140" name="Google Shape;140;g36393dac501_0_0">
            <a:extLst>
              <a:ext uri="{FF2B5EF4-FFF2-40B4-BE49-F238E27FC236}">
                <a16:creationId xmlns:a16="http://schemas.microsoft.com/office/drawing/2014/main" id="{1B78450E-7AE0-AF8C-E667-06ADE65C60D5}"/>
              </a:ext>
            </a:extLst>
          </p:cNvPr>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a:extLst>
              <a:ext uri="{FF2B5EF4-FFF2-40B4-BE49-F238E27FC236}">
                <a16:creationId xmlns:a16="http://schemas.microsoft.com/office/drawing/2014/main" id="{E9AD4244-DB38-2F2E-D20C-1B90C402A021}"/>
              </a:ext>
            </a:extLst>
          </p:cNvPr>
          <p:cNvSpPr txBox="1"/>
          <p:nvPr/>
        </p:nvSpPr>
        <p:spPr>
          <a:xfrm>
            <a:off x="372353" y="1667521"/>
            <a:ext cx="11447400" cy="1815841"/>
          </a:xfrm>
          <a:prstGeom prst="rect">
            <a:avLst/>
          </a:prstGeom>
          <a:noFill/>
          <a:ln>
            <a:noFill/>
          </a:ln>
        </p:spPr>
        <p:txBody>
          <a:bodyPr spcFirstLastPara="1" wrap="square" lIns="91425" tIns="45700" rIns="91425" bIns="45700" anchor="t" anchorCtr="0">
            <a:spAutoFit/>
          </a:bodyPr>
          <a:lstStyle/>
          <a:p>
            <a:pPr marL="457200" lvl="0" indent="-330200">
              <a:buClr>
                <a:schemeClr val="dk1"/>
              </a:buClr>
              <a:buSzPts val="1600"/>
              <a:buFont typeface="Work Sans Light"/>
              <a:buChar char="●"/>
            </a:pPr>
            <a:r>
              <a:rPr lang="es-ES" sz="1600" dirty="0">
                <a:solidFill>
                  <a:schemeClr val="dk1"/>
                </a:solidFill>
                <a:latin typeface="Work Sans Light"/>
                <a:ea typeface="Work Sans Light"/>
                <a:cs typeface="Work Sans Light"/>
                <a:sym typeface="Work Sans Light"/>
              </a:rPr>
              <a:t>El proceso de pagos: el proceso de pagos se realiza mediante un pago en efectivo, una transferencia bancaria o una transferencia de </a:t>
            </a:r>
            <a:r>
              <a:rPr lang="es-ES" sz="1600" dirty="0" err="1">
                <a:solidFill>
                  <a:schemeClr val="dk1"/>
                </a:solidFill>
                <a:latin typeface="Work Sans Light"/>
                <a:ea typeface="Work Sans Light"/>
                <a:cs typeface="Work Sans Light"/>
                <a:sym typeface="Work Sans Light"/>
              </a:rPr>
              <a:t>neobancos</a:t>
            </a:r>
            <a:r>
              <a:rPr lang="es-ES" sz="1600" dirty="0">
                <a:solidFill>
                  <a:schemeClr val="dk1"/>
                </a:solidFill>
                <a:latin typeface="Work Sans Light"/>
                <a:ea typeface="Work Sans Light"/>
                <a:cs typeface="Work Sans Light"/>
                <a:sym typeface="Work Sans Light"/>
              </a:rPr>
              <a:t> (</a:t>
            </a:r>
            <a:r>
              <a:rPr lang="es-ES" sz="1600" dirty="0" err="1">
                <a:solidFill>
                  <a:schemeClr val="dk1"/>
                </a:solidFill>
                <a:latin typeface="Work Sans Light"/>
                <a:ea typeface="Work Sans Light"/>
                <a:cs typeface="Work Sans Light"/>
                <a:sym typeface="Work Sans Light"/>
              </a:rPr>
              <a:t>nequi</a:t>
            </a:r>
            <a:r>
              <a:rPr lang="es-ES" sz="1600" dirty="0">
                <a:solidFill>
                  <a:schemeClr val="dk1"/>
                </a:solidFill>
                <a:latin typeface="Work Sans Light"/>
                <a:ea typeface="Work Sans Light"/>
                <a:cs typeface="Work Sans Light"/>
                <a:sym typeface="Work Sans Light"/>
              </a:rPr>
              <a:t> o </a:t>
            </a:r>
            <a:r>
              <a:rPr lang="es-ES" sz="1600" dirty="0" err="1">
                <a:solidFill>
                  <a:schemeClr val="dk1"/>
                </a:solidFill>
                <a:latin typeface="Work Sans Light"/>
                <a:ea typeface="Work Sans Light"/>
                <a:cs typeface="Work Sans Light"/>
                <a:sym typeface="Work Sans Light"/>
              </a:rPr>
              <a:t>daviplata</a:t>
            </a:r>
            <a:r>
              <a:rPr lang="es-ES" sz="1600" dirty="0">
                <a:solidFill>
                  <a:schemeClr val="dk1"/>
                </a:solidFill>
                <a:latin typeface="Work Sans Light"/>
                <a:ea typeface="Work Sans Light"/>
                <a:cs typeface="Work Sans Light"/>
                <a:sym typeface="Work Sans Light"/>
              </a:rPr>
              <a:t>). Aunque el método funciona, se concluye que es necesaria una optimización para lograr un mayor control e integración con los demás procesos.</a:t>
            </a:r>
          </a:p>
          <a:p>
            <a:pPr marL="457200" lvl="0" indent="-330200">
              <a:buClr>
                <a:schemeClr val="dk1"/>
              </a:buClr>
              <a:buSzPts val="1600"/>
              <a:buFont typeface="Work Sans Light"/>
              <a:buChar char="●"/>
            </a:pPr>
            <a:endParaRPr lang="es-ES"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 de promociones y descuentos: el proceso de promociones y descuentos consiste en dar un descuento por la compra de un producto de un calzado y un bolso se le da una rebaja de un porcentaje del total de la compra al cliente</a:t>
            </a:r>
            <a:endParaRPr sz="1600" dirty="0">
              <a:solidFill>
                <a:schemeClr val="dk1"/>
              </a:solidFill>
              <a:latin typeface="Work Sans Light"/>
              <a:ea typeface="Work Sans Light"/>
              <a:cs typeface="Work Sans Light"/>
              <a:sym typeface="Work Sans Light"/>
            </a:endParaRPr>
          </a:p>
        </p:txBody>
      </p:sp>
      <p:pic>
        <p:nvPicPr>
          <p:cNvPr id="142" name="Google Shape;142;g36393dac501_0_0">
            <a:extLst>
              <a:ext uri="{FF2B5EF4-FFF2-40B4-BE49-F238E27FC236}">
                <a16:creationId xmlns:a16="http://schemas.microsoft.com/office/drawing/2014/main" id="{77528107-6AF9-0DCF-DB02-3072A001BE3A}"/>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43" name="Google Shape;143;g36393dac501_0_0">
            <a:extLst>
              <a:ext uri="{FF2B5EF4-FFF2-40B4-BE49-F238E27FC236}">
                <a16:creationId xmlns:a16="http://schemas.microsoft.com/office/drawing/2014/main" id="{A4C9270D-39D3-8A07-66CF-88628E3663F3}"/>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B981FEA9-ACFE-A46A-334E-C641A7660B58}"/>
              </a:ext>
            </a:extLst>
          </p:cNvPr>
          <p:cNvPicPr>
            <a:picLocks noChangeAspect="1"/>
          </p:cNvPicPr>
          <p:nvPr/>
        </p:nvPicPr>
        <p:blipFill>
          <a:blip r:embed="rId4"/>
          <a:stretch>
            <a:fillRect/>
          </a:stretch>
        </p:blipFill>
        <p:spPr>
          <a:xfrm>
            <a:off x="8378378" y="164723"/>
            <a:ext cx="1217077" cy="1217077"/>
          </a:xfrm>
          <a:prstGeom prst="rect">
            <a:avLst/>
          </a:prstGeom>
        </p:spPr>
      </p:pic>
    </p:spTree>
    <p:extLst>
      <p:ext uri="{BB962C8B-B14F-4D97-AF65-F5344CB8AC3E}">
        <p14:creationId xmlns:p14="http://schemas.microsoft.com/office/powerpoint/2010/main" val="3424747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g36393dac501_3_0"/>
          <p:cNvSpPr/>
          <p:nvPr/>
        </p:nvSpPr>
        <p:spPr>
          <a:xfrm>
            <a:off x="1314043" y="1369915"/>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g36393dac501_3_0"/>
          <p:cNvSpPr txBox="1"/>
          <p:nvPr/>
        </p:nvSpPr>
        <p:spPr>
          <a:xfrm>
            <a:off x="1039259" y="1040536"/>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51" name="Google Shape;151;g36393dac501_3_0"/>
          <p:cNvSpPr txBox="1"/>
          <p:nvPr/>
        </p:nvSpPr>
        <p:spPr>
          <a:xfrm>
            <a:off x="1247943" y="2700940"/>
            <a:ext cx="5043000" cy="1815841"/>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r>
              <a:rPr lang="es-MX" sz="1600" dirty="0">
                <a:solidFill>
                  <a:schemeClr val="dk1"/>
                </a:solidFill>
                <a:latin typeface="Work Sans Light"/>
                <a:ea typeface="Work Sans Light"/>
                <a:cs typeface="Work Sans Light"/>
                <a:sym typeface="Work Sans Light"/>
              </a:rPr>
              <a:t>Desarrollar e implementar un Sistema de Información Web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para la gestión de productos, pedidos y promociones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permitiendo a los usuarios navegar, seleccionar y adquirir productos de calzado y bolsos de forma intuitiva, segura y eficiente.</a:t>
            </a:r>
            <a:endParaRPr sz="1100" dirty="0">
              <a:solidFill>
                <a:schemeClr val="dk1"/>
              </a:solidFill>
            </a:endParaRPr>
          </a:p>
        </p:txBody>
      </p:sp>
      <p:pic>
        <p:nvPicPr>
          <p:cNvPr id="152" name="Google Shape;152;g36393dac501_3_0"/>
          <p:cNvPicPr preferRelativeResize="0"/>
          <p:nvPr/>
        </p:nvPicPr>
        <p:blipFill>
          <a:blip r:embed="rId3">
            <a:alphaModFix/>
          </a:blip>
          <a:stretch>
            <a:fillRect/>
          </a:stretch>
        </p:blipFill>
        <p:spPr>
          <a:xfrm>
            <a:off x="7214050" y="85125"/>
            <a:ext cx="5720524" cy="7153426"/>
          </a:xfrm>
          <a:prstGeom prst="rect">
            <a:avLst/>
          </a:prstGeom>
          <a:noFill/>
          <a:ln>
            <a:noFill/>
          </a:ln>
        </p:spPr>
      </p:pic>
      <p:pic>
        <p:nvPicPr>
          <p:cNvPr id="153" name="Google Shape;153;g36393dac501_3_0"/>
          <p:cNvPicPr preferRelativeResize="0"/>
          <p:nvPr/>
        </p:nvPicPr>
        <p:blipFill>
          <a:blip r:embed="rId4">
            <a:alphaModFix/>
          </a:blip>
          <a:stretch>
            <a:fillRect/>
          </a:stretch>
        </p:blipFill>
        <p:spPr>
          <a:xfrm>
            <a:off x="7214050" y="0"/>
            <a:ext cx="5720525" cy="7085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151515" y="999678"/>
            <a:ext cx="6947700" cy="575538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lang="es-CO" sz="1600" dirty="0">
              <a:solidFill>
                <a:schemeClr val="dk1"/>
              </a:solidFill>
              <a:latin typeface="Work Sans Light"/>
              <a:ea typeface="Work Sans Light"/>
              <a:cs typeface="Work Sans Light"/>
              <a:sym typeface="Work Sans Light"/>
            </a:endParaRPr>
          </a:p>
          <a:p>
            <a:pPr marL="285750" indent="-285750">
              <a:buClr>
                <a:schemeClr val="dk1"/>
              </a:buClr>
              <a:buSzPts val="1600"/>
              <a:buFont typeface="Work Sans Light"/>
              <a:buChar char="•"/>
            </a:pPr>
            <a:r>
              <a:rPr lang="es-MX" sz="1600" dirty="0">
                <a:solidFill>
                  <a:schemeClr val="dk1"/>
                </a:solidFill>
                <a:latin typeface="Work Sans Light"/>
              </a:rPr>
              <a:t>Gestionar usuarios mediante registro, inicio de sesión y recuperación de contraseña, garantizando acceso seguro y controlado.</a:t>
            </a:r>
          </a:p>
          <a:p>
            <a:pPr>
              <a:buClr>
                <a:schemeClr val="dk1"/>
              </a:buClr>
              <a:buSzPts val="1600"/>
            </a:pPr>
            <a:endParaRPr lang="es-MX" sz="1600" dirty="0">
              <a:solidFill>
                <a:schemeClr val="dk1"/>
              </a:solidFill>
              <a:latin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los</a:t>
            </a:r>
            <a:r>
              <a:rPr lang="es-MX" sz="1600" dirty="0">
                <a:solidFill>
                  <a:schemeClr val="dk1"/>
                </a:solidFill>
                <a:latin typeface="Work Sans Light"/>
                <a:sym typeface="Work Sans Light"/>
              </a:rPr>
              <a:t> productos mediante registro, edición, consulta y eliminación, asegurando un control eficiente del inventario y del catálogo.</a:t>
            </a:r>
          </a:p>
          <a:p>
            <a:pPr marR="0" lvl="0" algn="l" rtl="0">
              <a:lnSpc>
                <a:spcPct val="100000"/>
              </a:lnSpc>
              <a:spcBef>
                <a:spcPts val="0"/>
              </a:spcBef>
              <a:spcAft>
                <a:spcPts val="0"/>
              </a:spcAft>
              <a:buClr>
                <a:schemeClr val="dk1"/>
              </a:buClr>
              <a:buSzPts val="1600"/>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las </a:t>
            </a:r>
            <a:r>
              <a:rPr lang="es-MX" sz="1600" dirty="0">
                <a:solidFill>
                  <a:schemeClr val="dk1"/>
                </a:solidFill>
                <a:latin typeface="Work Sans Light"/>
                <a:ea typeface="Work Sans Light"/>
                <a:cs typeface="Work Sans Light"/>
                <a:sym typeface="Work Sans Light"/>
              </a:rPr>
              <a:t>ventas de los productos a través de la generación de tickets y seguimiento de pedidos, optimizando el proceso comercial y la trazabilidad.</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múltiples métodos de pago en las ventas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garantizando transacciones seguras y una experiencia de compra eficiente.</a:t>
            </a:r>
            <a:br>
              <a:rPr lang="es-MX" sz="1600" dirty="0">
                <a:solidFill>
                  <a:schemeClr val="dk1"/>
                </a:solidFill>
                <a:latin typeface="Work Sans Light"/>
                <a:ea typeface="Work Sans Light"/>
                <a:cs typeface="Work Sans Light"/>
                <a:sym typeface="Work Sans Light"/>
              </a:rPr>
            </a:b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las promociones y descuentos de la empresa, facilitando su administración por el personal e incentivando las compras de los clientes.</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Generar reportes sobre usuarios, productos, ventas y promociones, permitiendo un análisis claro del desempeño de la empresa.</a:t>
            </a: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68" name="Google Shape;168;g36393dac501_4_0"/>
          <p:cNvSpPr txBox="1"/>
          <p:nvPr/>
        </p:nvSpPr>
        <p:spPr>
          <a:xfrm>
            <a:off x="372353" y="1667521"/>
            <a:ext cx="11447400" cy="477049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Se propone el desarrollo de un Sistema de Información Web denominado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que sirva como herramienta software de apoyo al seguimiento de los procesos de la comercialización del producto, y el proceso de la facturación manual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La importancia del Sistema: Permitirá la gestión de los compradores y los Administradores como usuarios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En el Modulo de catalogo de productos los compradores y administradores podrán gestionar el catálogo.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usuarios: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editar la información de los usuarios y agregar administradores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compras: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manejar el carrito de compras y podrán ponerle a un producto promociones.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pedidos: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Compradores y administradores  podrán: tener la posibilidad de consultar sus pedidos y actualizarlos según sea necesario.</a:t>
            </a:r>
            <a:endParaRPr sz="1600" dirty="0">
              <a:solidFill>
                <a:schemeClr val="dk1"/>
              </a:solidFill>
              <a:latin typeface="Work Sans Light"/>
              <a:ea typeface="Work Sans Light"/>
              <a:cs typeface="Work Sans Light"/>
              <a:sym typeface="Work Sans Light"/>
            </a:endParaRPr>
          </a:p>
          <a:p>
            <a:pPr marL="457200" lvl="0" indent="0" algn="l" rtl="0">
              <a:spcBef>
                <a:spcPts val="0"/>
              </a:spcBef>
              <a:spcAft>
                <a:spcPts val="0"/>
              </a:spcAft>
              <a:buNone/>
            </a:pPr>
            <a:endParaRPr sz="1600" dirty="0">
              <a:solidFill>
                <a:schemeClr val="dk1"/>
              </a:solidFill>
              <a:latin typeface="Work Sans"/>
              <a:ea typeface="Work Sans"/>
              <a:cs typeface="Work Sans"/>
              <a:sym typeface="Work Sans"/>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160249" y="164723"/>
            <a:ext cx="1217077" cy="1217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9"/>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Justificación</a:t>
            </a:r>
            <a:endParaRPr/>
          </a:p>
        </p:txBody>
      </p:sp>
      <p:sp>
        <p:nvSpPr>
          <p:cNvPr id="178" name="Google Shape;178;p9"/>
          <p:cNvSpPr txBox="1"/>
          <p:nvPr/>
        </p:nvSpPr>
        <p:spPr>
          <a:xfrm>
            <a:off x="372353" y="1667521"/>
            <a:ext cx="11447400" cy="4316100"/>
          </a:xfrm>
          <a:prstGeom prst="rect">
            <a:avLst/>
          </a:prstGeom>
          <a:noFill/>
          <a:ln>
            <a:noFill/>
          </a:ln>
        </p:spPr>
        <p:txBody>
          <a:bodyPr spcFirstLastPara="1" wrap="square" lIns="91425" tIns="45700" rIns="91425" bIns="45700" anchor="t" anchorCtr="0">
            <a:spAutoFit/>
          </a:bodyPr>
          <a:lstStyle/>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administrador:</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los administradores podrán: gestionar el inventario de productos, incluyendo la visibilidad y actualización de los datos de cada artículo.</a:t>
            </a:r>
            <a:endParaRPr sz="1600">
              <a:solidFill>
                <a:schemeClr val="dk1"/>
              </a:solidFill>
              <a:latin typeface="Work Sans Light"/>
              <a:ea typeface="Work Sans Light"/>
              <a:cs typeface="Work Sans Light"/>
              <a:sym typeface="Work Sans Light"/>
            </a:endParaRPr>
          </a:p>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promociones y descuentos:</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Compradores y administradores podrán: usar las promociones disponibles, gestionar las colecciones y descuentos</a:t>
            </a:r>
            <a:r>
              <a:rPr lang="es-MX" sz="1600">
                <a:solidFill>
                  <a:schemeClr val="dk1"/>
                </a:solidFill>
                <a:latin typeface="Work Sans"/>
                <a:ea typeface="Work Sans"/>
                <a:cs typeface="Work Sans"/>
                <a:sym typeface="Work Sans"/>
              </a:rPr>
              <a:t>.</a:t>
            </a:r>
            <a:endParaRPr sz="1600" b="1">
              <a:solidFill>
                <a:schemeClr val="dk1"/>
              </a:solidFill>
              <a:latin typeface="Work Sans"/>
              <a:ea typeface="Work Sans"/>
              <a:cs typeface="Work Sans"/>
              <a:sym typeface="Work Sans"/>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Módulo de notificaciones y soporte:</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Compradores podrán: acceder a soporte mediante chat y los administradores serán responsables de gestionar las solicitudes de ayuda y brindar respuestas.</a:t>
            </a:r>
            <a:endParaRPr sz="1600">
              <a:solidFill>
                <a:schemeClr val="dk1"/>
              </a:solidFill>
              <a:latin typeface="Work Sans Light"/>
              <a:ea typeface="Work Sans Light"/>
              <a:cs typeface="Work Sans Light"/>
              <a:sym typeface="Work Sans Light"/>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Reportes y estadísticas:</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El sistema permitirá a los administradores generar reportes gráficos e impresos, útiles para la toma de decisiones estratégicas.</a:t>
            </a:r>
            <a:endParaRPr sz="1600">
              <a:solidFill>
                <a:schemeClr val="dk1"/>
              </a:solidFill>
              <a:latin typeface="Work Sans Light"/>
              <a:ea typeface="Work Sans Light"/>
              <a:cs typeface="Work Sans Light"/>
              <a:sym typeface="Work Sans Light"/>
            </a:endParaRPr>
          </a:p>
          <a:p>
            <a:pPr marL="0" lvl="0" indent="0" algn="l" rtl="0">
              <a:spcBef>
                <a:spcPts val="120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1200"/>
              </a:spcAft>
              <a:buClr>
                <a:schemeClr val="dk1"/>
              </a:buClr>
              <a:buSzPts val="1100"/>
              <a:buFont typeface="Arial"/>
              <a:buNone/>
            </a:pPr>
            <a:endParaRPr sz="1600">
              <a:solidFill>
                <a:schemeClr val="dk1"/>
              </a:solidFill>
              <a:latin typeface="Work Sans Light"/>
              <a:ea typeface="Work Sans Light"/>
              <a:cs typeface="Work Sans Light"/>
              <a:sym typeface="Work Sans Light"/>
            </a:endParaRPr>
          </a:p>
        </p:txBody>
      </p:sp>
      <p:pic>
        <p:nvPicPr>
          <p:cNvPr id="179" name="Google Shape;179;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0" name="Google Shape;180;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9C76A1A-E541-9B5B-7DED-37EB7E9D6D7B}"/>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8" name="Google Shape;188;p10"/>
          <p:cNvSpPr txBox="1"/>
          <p:nvPr/>
        </p:nvSpPr>
        <p:spPr>
          <a:xfrm>
            <a:off x="3149325" y="1890313"/>
            <a:ext cx="8737200" cy="181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Usuarios del sistema podrán iniciar sesión, administrar su perfil, ver catálogo de productos organizado por filtros de búsqueda, agregar estos al carrito o a favoritos, una vez se tengan productos en el carrito de compras podrán seleccionar los productos a comprar, posterior a esto el cliente facilitará al aplicativo su método de pago, y lugar de envío. Una vez el cliente haya recibido su producto podrá valorar este en una escala de 5 estrellas y dejar una breve descripción de su experiencia. La empresa no realiza facturacion por la DIAN genera un ticket o comprobante de venta </a:t>
            </a:r>
            <a:endParaRPr sz="1600">
              <a:solidFill>
                <a:schemeClr val="dk1"/>
              </a:solidFill>
              <a:latin typeface="Work Sans Light"/>
              <a:ea typeface="Work Sans Light"/>
              <a:cs typeface="Work Sans Light"/>
              <a:sym typeface="Work Sans Light"/>
            </a:endParaRPr>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0" name="Google Shape;190;p10"/>
          <p:cNvPicPr preferRelativeResize="0"/>
          <p:nvPr/>
        </p:nvPicPr>
        <p:blipFill>
          <a:blip r:embed="rId4">
            <a:alphaModFix/>
          </a:blip>
          <a:stretch>
            <a:fillRect/>
          </a:stretch>
        </p:blipFill>
        <p:spPr>
          <a:xfrm>
            <a:off x="405700" y="1541549"/>
            <a:ext cx="2267425" cy="2267425"/>
          </a:xfrm>
          <a:prstGeom prst="rect">
            <a:avLst/>
          </a:prstGeom>
          <a:noFill/>
          <a:ln>
            <a:noFill/>
          </a:ln>
        </p:spPr>
      </p:pic>
      <p:sp>
        <p:nvSpPr>
          <p:cNvPr id="191" name="Google Shape;191;p10"/>
          <p:cNvSpPr txBox="1"/>
          <p:nvPr/>
        </p:nvSpPr>
        <p:spPr>
          <a:xfrm>
            <a:off x="280825" y="4620450"/>
            <a:ext cx="87372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Administrador(es) del sistema podrán iniciar sesión, administrar la visibilidad de productos según su stock, gestionar los datos de estos como el precio, descripción, entre otros. Además podrán eliminar valoraciones de productos que infrinjan las normas de protección al usuario.</a:t>
            </a:r>
            <a:endParaRPr/>
          </a:p>
        </p:txBody>
      </p:sp>
      <p:pic>
        <p:nvPicPr>
          <p:cNvPr id="192" name="Google Shape;192;p10"/>
          <p:cNvPicPr preferRelativeResize="0"/>
          <p:nvPr/>
        </p:nvPicPr>
        <p:blipFill>
          <a:blip r:embed="rId5">
            <a:alphaModFix/>
          </a:blip>
          <a:stretch>
            <a:fillRect/>
          </a:stretch>
        </p:blipFill>
        <p:spPr>
          <a:xfrm>
            <a:off x="9339200" y="3864301"/>
            <a:ext cx="2397175" cy="2397175"/>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6"/>
          <a:stretch>
            <a:fillRect/>
          </a:stretch>
        </p:blipFill>
        <p:spPr>
          <a:xfrm>
            <a:off x="8378378" y="164723"/>
            <a:ext cx="1217077" cy="1217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11"/>
          <p:cNvSpPr txBox="1"/>
          <p:nvPr/>
        </p:nvSpPr>
        <p:spPr>
          <a:xfrm>
            <a:off x="456236" y="434948"/>
            <a:ext cx="105156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Alcance</a:t>
            </a:r>
            <a:endParaRPr/>
          </a:p>
        </p:txBody>
      </p:sp>
      <p:sp>
        <p:nvSpPr>
          <p:cNvPr id="201" name="Google Shape;201;p11"/>
          <p:cNvSpPr txBox="1"/>
          <p:nvPr/>
        </p:nvSpPr>
        <p:spPr>
          <a:xfrm>
            <a:off x="4012450" y="1882675"/>
            <a:ext cx="72924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sistema no envía los productos al cliente, el sistema es un intermediario entre el cliente y la empresa para que este pueda adquirir los productos de esta respectivamente. Los envíos son responsabilidad de Innovation Fusion y la empresa de envíos.</a:t>
            </a:r>
            <a:endParaRPr/>
          </a:p>
        </p:txBody>
      </p:sp>
      <p:pic>
        <p:nvPicPr>
          <p:cNvPr id="202" name="Google Shape;202;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3" name="Google Shape;203;p11"/>
          <p:cNvPicPr preferRelativeResize="0"/>
          <p:nvPr/>
        </p:nvPicPr>
        <p:blipFill>
          <a:blip r:embed="rId4">
            <a:alphaModFix/>
          </a:blip>
          <a:stretch>
            <a:fillRect/>
          </a:stretch>
        </p:blipFill>
        <p:spPr>
          <a:xfrm>
            <a:off x="734050" y="1553263"/>
            <a:ext cx="1905000" cy="1905000"/>
          </a:xfrm>
          <a:prstGeom prst="rect">
            <a:avLst/>
          </a:prstGeom>
          <a:noFill/>
          <a:ln>
            <a:noFill/>
          </a:ln>
        </p:spPr>
      </p:pic>
      <p:sp>
        <p:nvSpPr>
          <p:cNvPr id="204" name="Google Shape;204;p11"/>
          <p:cNvSpPr txBox="1"/>
          <p:nvPr/>
        </p:nvSpPr>
        <p:spPr>
          <a:xfrm>
            <a:off x="827850" y="4275825"/>
            <a:ext cx="6837000" cy="132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aplicativo está siendo realizado bajo el patrón arquitectónico MVC (modelo vista controlador), usando como lenguaje de programación JAVA (JDK 21), Se usa React (React 19.1) como framework para el frontend del aplicativo, (SPRINGBOOT 3.5.5) , (</a:t>
            </a:r>
            <a:r>
              <a:rPr lang="es-MX" sz="1600" u="sng">
                <a:solidFill>
                  <a:schemeClr val="hlink"/>
                </a:solidFill>
                <a:latin typeface="Work Sans Light"/>
                <a:ea typeface="Work Sans Light"/>
                <a:cs typeface="Work Sans Light"/>
                <a:sym typeface="Work Sans Light"/>
                <a:hlinkClick r:id="rId5"/>
              </a:rPr>
              <a:t>NODE.JS</a:t>
            </a:r>
            <a:r>
              <a:rPr lang="es-MX" sz="1600">
                <a:solidFill>
                  <a:schemeClr val="dk1"/>
                </a:solidFill>
                <a:latin typeface="Work Sans Light"/>
                <a:ea typeface="Work Sans Light"/>
                <a:cs typeface="Work Sans Light"/>
                <a:sym typeface="Work Sans Light"/>
              </a:rPr>
              <a:t> 22.18.0) Y (NPM 10.9.3)</a:t>
            </a:r>
            <a:endParaRPr/>
          </a:p>
        </p:txBody>
      </p:sp>
      <p:pic>
        <p:nvPicPr>
          <p:cNvPr id="205" name="Google Shape;205;p11"/>
          <p:cNvPicPr preferRelativeResize="0"/>
          <p:nvPr/>
        </p:nvPicPr>
        <p:blipFill>
          <a:blip r:embed="rId6">
            <a:alphaModFix/>
          </a:blip>
          <a:stretch>
            <a:fillRect/>
          </a:stretch>
        </p:blipFill>
        <p:spPr>
          <a:xfrm>
            <a:off x="8189000" y="3794178"/>
            <a:ext cx="3472425" cy="2040600"/>
          </a:xfrm>
          <a:prstGeom prst="rect">
            <a:avLst/>
          </a:prstGeom>
          <a:noFill/>
          <a:ln>
            <a:noFill/>
          </a:ln>
        </p:spPr>
      </p:pic>
      <p:pic>
        <p:nvPicPr>
          <p:cNvPr id="206" name="Google Shape;206;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899C0858-8D2E-F02C-C9FF-0DF32F2CC0AA}"/>
              </a:ext>
            </a:extLst>
          </p:cNvPr>
          <p:cNvPicPr>
            <a:picLocks noChangeAspect="1"/>
          </p:cNvPicPr>
          <p:nvPr/>
        </p:nvPicPr>
        <p:blipFill>
          <a:blip r:embed="rId7"/>
          <a:stretch>
            <a:fillRect/>
          </a:stretch>
        </p:blipFill>
        <p:spPr>
          <a:xfrm>
            <a:off x="8378378" y="164723"/>
            <a:ext cx="1217077" cy="1217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14"/>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15" name="Google Shape;215;p14"/>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6" name="Google Shape;216;p14"/>
          <p:cNvSpPr txBox="1"/>
          <p:nvPr/>
        </p:nvSpPr>
        <p:spPr>
          <a:xfrm>
            <a:off x="456213" y="1926673"/>
            <a:ext cx="3854400" cy="41868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Nombre proyecto - Objetivo general - Objetivos especí­ficos - Planteamiento del problema y pregunta problema - Alcance del proyecto - Justificación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BPMN del proceso de negocio, no del aplicativo a desarrollar)</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Técnicas de recolección de información y análisis de resultados estadística descriptiva </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Estándar IEEE Std 830-1998, IEEE 1233-1998, IEEE 29148:2018.</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casos de uso y documentación de casos de uso (formato de casos de uso extendido).</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Validación de requerimientos (Realización de un prototipo usando mockups o wireframes)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Fichas técnicas. </a:t>
            </a:r>
            <a:endParaRPr>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17" name="Google Shape;217;p14"/>
          <p:cNvGrpSpPr/>
          <p:nvPr/>
        </p:nvGrpSpPr>
        <p:grpSpPr>
          <a:xfrm>
            <a:off x="518475" y="1483910"/>
            <a:ext cx="3239100" cy="294480"/>
            <a:chOff x="126603" y="-1251822"/>
            <a:chExt cx="3239100" cy="2796582"/>
          </a:xfrm>
        </p:grpSpPr>
        <p:sp>
          <p:nvSpPr>
            <p:cNvPr id="218" name="Google Shape;218;p14"/>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9" name="Google Shape;219;p14"/>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20" name="Google Shape;220;p14"/>
          <p:cNvGrpSpPr/>
          <p:nvPr/>
        </p:nvGrpSpPr>
        <p:grpSpPr>
          <a:xfrm>
            <a:off x="5250780" y="1586425"/>
            <a:ext cx="3328015" cy="447313"/>
            <a:chOff x="781688" y="1395228"/>
            <a:chExt cx="3328015" cy="447313"/>
          </a:xfrm>
        </p:grpSpPr>
        <p:sp>
          <p:nvSpPr>
            <p:cNvPr id="221" name="Google Shape;221;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2" name="Google Shape;222;p14"/>
            <p:cNvSpPr txBox="1"/>
            <p:nvPr/>
          </p:nvSpPr>
          <p:spPr>
            <a:xfrm>
              <a:off x="870603" y="13952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23" name="Google Shape;223;p14"/>
          <p:cNvSpPr txBox="1"/>
          <p:nvPr/>
        </p:nvSpPr>
        <p:spPr>
          <a:xfrm>
            <a:off x="5220433" y="2184131"/>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Modelo relacional notación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identificando las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 el proyecto se evidencia 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clases.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distribución.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Prototipo navegable del software (Html - CSS)</a:t>
            </a:r>
            <a:endParaRPr>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24" name="Google Shape;224;p14"/>
          <p:cNvGrpSpPr/>
          <p:nvPr/>
        </p:nvGrpSpPr>
        <p:grpSpPr>
          <a:xfrm>
            <a:off x="5155290" y="4318019"/>
            <a:ext cx="3379040" cy="463794"/>
            <a:chOff x="846638" y="-350472"/>
            <a:chExt cx="3379040" cy="463794"/>
          </a:xfrm>
        </p:grpSpPr>
        <p:sp>
          <p:nvSpPr>
            <p:cNvPr id="225" name="Google Shape;225;p14"/>
            <p:cNvSpPr/>
            <p:nvPr/>
          </p:nvSpPr>
          <p:spPr>
            <a:xfrm>
              <a:off x="846638" y="677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6" name="Google Shape;226;p14"/>
            <p:cNvSpPr txBox="1"/>
            <p:nvPr/>
          </p:nvSpPr>
          <p:spPr>
            <a:xfrm>
              <a:off x="986578" y="-35047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27" name="Google Shape;227;p14"/>
          <p:cNvSpPr txBox="1"/>
          <p:nvPr/>
        </p:nvSpPr>
        <p:spPr>
          <a:xfrm>
            <a:off x="5220430" y="4781825"/>
            <a:ext cx="4941900" cy="13854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 construcción de la base de datos usando sentencias DDL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Uso de la base de datos a través de sentencias DML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Base de Datos con encriptación.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FrontEnd Funcional utilizando Framework </a:t>
            </a:r>
            <a:endParaRPr>
              <a:solidFill>
                <a:schemeClr val="dk1"/>
              </a:solidFill>
              <a:latin typeface="Work Sans Light"/>
              <a:ea typeface="Work Sans Light"/>
              <a:cs typeface="Work Sans Light"/>
              <a:sym typeface="Work Sans Light"/>
            </a:endParaRPr>
          </a:p>
        </p:txBody>
      </p:sp>
      <p:pic>
        <p:nvPicPr>
          <p:cNvPr id="228" name="Google Shape;228;p14"/>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65AA3F47-F50E-0FC9-4CE0-D77264A2FA99}"/>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48fab2c6ef_1_9"/>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37" name="Google Shape;237;g348fab2c6ef_1_9"/>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g348fab2c6ef_1_9"/>
          <p:cNvSpPr txBox="1"/>
          <p:nvPr/>
        </p:nvSpPr>
        <p:spPr>
          <a:xfrm>
            <a:off x="456213" y="1926673"/>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Las API REST de la solución sotware incluye seguridad</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El front_end web de la solución software está hecha en Angular, Vue.js, React (u otro), consume la API REST y tiene un avance del 80%</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Las entregas del trimestre de la solución software se hacen a través de un Sistema de Control de Versiones (SCV)</a:t>
            </a:r>
            <a:endParaRPr>
              <a:solidFill>
                <a:schemeClr val="dk1"/>
              </a:solidFill>
              <a:latin typeface="Work Sans Light"/>
              <a:ea typeface="Work Sans Light"/>
              <a:cs typeface="Work Sans Light"/>
              <a:sym typeface="Work Sans Light"/>
            </a:endParaRPr>
          </a:p>
        </p:txBody>
      </p:sp>
      <p:grpSp>
        <p:nvGrpSpPr>
          <p:cNvPr id="239" name="Google Shape;239;g348fab2c6ef_1_9"/>
          <p:cNvGrpSpPr/>
          <p:nvPr/>
        </p:nvGrpSpPr>
        <p:grpSpPr>
          <a:xfrm>
            <a:off x="518475" y="1483910"/>
            <a:ext cx="3239100" cy="294480"/>
            <a:chOff x="126603" y="-1251822"/>
            <a:chExt cx="3239100" cy="2796582"/>
          </a:xfrm>
        </p:grpSpPr>
        <p:sp>
          <p:nvSpPr>
            <p:cNvPr id="240" name="Google Shape;240;g348fab2c6ef_1_9"/>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1" name="Google Shape;241;g348fab2c6ef_1_9"/>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a:p>
          </p:txBody>
        </p:sp>
      </p:gr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008A25D-5C91-E9FE-F04A-9C7810FAB64E}"/>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715</TotalTime>
  <Words>1727</Words>
  <Application>Microsoft Office PowerPoint</Application>
  <PresentationFormat>Panorámica</PresentationFormat>
  <Paragraphs>108</Paragraphs>
  <Slides>16</Slides>
  <Notes>16</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16</vt:i4>
      </vt:variant>
    </vt:vector>
  </HeadingPairs>
  <TitlesOfParts>
    <vt:vector size="22" baseType="lpstr">
      <vt:lpstr>Arial</vt:lpstr>
      <vt:lpstr>Work Sans Light</vt:lpstr>
      <vt:lpstr>Work Sans Medium</vt:lpstr>
      <vt:lpstr>Work Sans</vt:lpstr>
      <vt:lpstr>Calibri</vt:lpstr>
      <vt:lpstr>Tema de Office</vt:lpstr>
      <vt:lpstr>Presentación de PowerPoint</vt:lpstr>
      <vt:lpstr>Presentación de PowerPoint</vt:lpstr>
      <vt:lpstr>Presentación de PowerPoint</vt:lpstr>
      <vt:lpstr>Presentación de PowerPoint</vt:lpstr>
      <vt:lpstr>Presentación de PowerPoint</vt:lpstr>
      <vt:lpstr>Problema</vt:lpstr>
      <vt:lpstr>Problema</vt:lpstr>
      <vt:lpstr>Presentación de PowerPoint</vt:lpstr>
      <vt:lpstr>Presentación de PowerPoint</vt:lpstr>
      <vt:lpstr>Justificación</vt:lpstr>
      <vt:lpstr>Presentación de PowerPoint</vt:lpstr>
      <vt:lpstr>Alcance</vt:lpstr>
      <vt:lpstr>Presentación de PowerPoint</vt:lpstr>
      <vt:lpstr>Entregables Proyecto Formativo por Trimestre</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daniela bohorquez diaz</cp:lastModifiedBy>
  <cp:revision>7</cp:revision>
  <dcterms:created xsi:type="dcterms:W3CDTF">2020-10-01T23:51:28Z</dcterms:created>
  <dcterms:modified xsi:type="dcterms:W3CDTF">2025-11-04T17:11:46Z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