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6858000" cx="12192000"/>
  <p:notesSz cx="6858000" cy="9144000"/>
  <p:embeddedFontLst>
    <p:embeddedFont>
      <p:font typeface="Roboto"/>
      <p:regular r:id="rId21"/>
      <p:bold r:id="rId22"/>
      <p:italic r:id="rId23"/>
      <p:boldItalic r:id="rId24"/>
    </p:embeddedFont>
    <p:embeddedFont>
      <p:font typeface="Work Sans Medium"/>
      <p:regular r:id="rId25"/>
      <p:bold r:id="rId26"/>
      <p:italic r:id="rId27"/>
      <p:boldItalic r:id="rId28"/>
    </p:embeddedFont>
    <p:embeddedFont>
      <p:font typeface="Work Sans"/>
      <p:regular r:id="rId29"/>
      <p:bold r:id="rId30"/>
      <p:italic r:id="rId31"/>
      <p:boldItalic r:id="rId32"/>
    </p:embeddedFont>
    <p:embeddedFont>
      <p:font typeface="Work Sans Light"/>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7" roundtripDataSignature="AMtx7mgGeO/vHCTEi/MJf6RnpC6vp81Q4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10B6C16-105A-48B9-B28C-AD33A7352A04}">
  <a:tblStyle styleId="{410B6C16-105A-48B9-B28C-AD33A7352A0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Roboto-bold.fntdata"/><Relationship Id="rId21" Type="http://schemas.openxmlformats.org/officeDocument/2006/relationships/font" Target="fonts/Roboto-regular.fntdata"/><Relationship Id="rId24" Type="http://schemas.openxmlformats.org/officeDocument/2006/relationships/font" Target="fonts/Roboto-boldItalic.fntdata"/><Relationship Id="rId23" Type="http://schemas.openxmlformats.org/officeDocument/2006/relationships/font" Target="fonts/Roboto-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WorkSansMedium-bold.fntdata"/><Relationship Id="rId25" Type="http://schemas.openxmlformats.org/officeDocument/2006/relationships/font" Target="fonts/WorkSansMedium-regular.fntdata"/><Relationship Id="rId28" Type="http://schemas.openxmlformats.org/officeDocument/2006/relationships/font" Target="fonts/WorkSansMedium-boldItalic.fntdata"/><Relationship Id="rId27" Type="http://schemas.openxmlformats.org/officeDocument/2006/relationships/font" Target="fonts/WorkSansMedium-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WorkSans-regular.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WorkSans-italic.fntdata"/><Relationship Id="rId30" Type="http://schemas.openxmlformats.org/officeDocument/2006/relationships/font" Target="fonts/WorkSans-bold.fntdata"/><Relationship Id="rId11" Type="http://schemas.openxmlformats.org/officeDocument/2006/relationships/slide" Target="slides/slide6.xml"/><Relationship Id="rId33" Type="http://schemas.openxmlformats.org/officeDocument/2006/relationships/font" Target="fonts/WorkSansLight-regular.fntdata"/><Relationship Id="rId10" Type="http://schemas.openxmlformats.org/officeDocument/2006/relationships/slide" Target="slides/slide5.xml"/><Relationship Id="rId32" Type="http://schemas.openxmlformats.org/officeDocument/2006/relationships/font" Target="fonts/WorkSans-boldItalic.fntdata"/><Relationship Id="rId13" Type="http://schemas.openxmlformats.org/officeDocument/2006/relationships/slide" Target="slides/slide8.xml"/><Relationship Id="rId35" Type="http://schemas.openxmlformats.org/officeDocument/2006/relationships/font" Target="fonts/WorkSansLight-italic.fntdata"/><Relationship Id="rId12" Type="http://schemas.openxmlformats.org/officeDocument/2006/relationships/slide" Target="slides/slide7.xml"/><Relationship Id="rId34" Type="http://schemas.openxmlformats.org/officeDocument/2006/relationships/font" Target="fonts/WorkSansLight-bold.fntdata"/><Relationship Id="rId15" Type="http://schemas.openxmlformats.org/officeDocument/2006/relationships/slide" Target="slides/slide10.xml"/><Relationship Id="rId37" Type="http://customschemas.google.com/relationships/presentationmetadata" Target="metadata"/><Relationship Id="rId14" Type="http://schemas.openxmlformats.org/officeDocument/2006/relationships/slide" Target="slides/slide9.xml"/><Relationship Id="rId36" Type="http://schemas.openxmlformats.org/officeDocument/2006/relationships/font" Target="fonts/WorkSansLight-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s-MX"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 name="Google Shape;10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63988e4161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 name="Google Shape;114;g363988e416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63988e4161_0_2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g363988e4161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6393dac501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 name="Google Shape;138;g36393dac5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6393dac501_3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7" name="Google Shape;147;g36393dac501_3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6393dac501_6_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 name="Google Shape;156;g36393dac501_6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6393dac501_4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5" name="Google Shape;165;g36393dac501_4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8" name="Google Shape;19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 name="Google Shape;21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48fab2c6ef_1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g348fab2c6ef_1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4" name="Google Shape;234;g348fab2c6ef_1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8" name="Google Shape;248;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apositiva de título">
  <p:cSld name="1_Diapositiva de título">
    <p:spTree>
      <p:nvGrpSpPr>
        <p:cNvPr id="15" name="Shape 15"/>
        <p:cNvGrpSpPr/>
        <p:nvPr/>
      </p:nvGrpSpPr>
      <p:grpSpPr>
        <a:xfrm>
          <a:off x="0" y="0"/>
          <a:ext cx="0" cy="0"/>
          <a:chOff x="0" y="0"/>
          <a:chExt cx="0" cy="0"/>
        </a:xfrm>
      </p:grpSpPr>
      <p:pic>
        <p:nvPicPr>
          <p:cNvPr descr="Interfaz de usuario gráfica, Texto, Aplicación&#10;&#10;Descripción generada automáticamente" id="16" name="Google Shape;16;p17"/>
          <p:cNvPicPr preferRelativeResize="0"/>
          <p:nvPr/>
        </p:nvPicPr>
        <p:blipFill rotWithShape="1">
          <a:blip r:embed="rId2">
            <a:alphaModFix/>
          </a:blip>
          <a:srcRect b="0" l="0" r="0" t="0"/>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Encabezado de sección">
  <p:cSld name="1_Encabezado de sección">
    <p:spTree>
      <p:nvGrpSpPr>
        <p:cNvPr id="17"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b="0" l="0" r="0" t="0"/>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Encabezado de sección">
  <p:cSld name="2_Encabezado de sección">
    <p:spTree>
      <p:nvGrpSpPr>
        <p:cNvPr id="19" name="Shape 19"/>
        <p:cNvGrpSpPr/>
        <p:nvPr/>
      </p:nvGrpSpPr>
      <p:grpSpPr>
        <a:xfrm>
          <a:off x="0" y="0"/>
          <a:ext cx="0" cy="0"/>
          <a:chOff x="0" y="0"/>
          <a:chExt cx="0" cy="0"/>
        </a:xfrm>
      </p:grpSpPr>
      <p:pic>
        <p:nvPicPr>
          <p:cNvPr descr="Patrón de fondo&#10;&#10;Descripción generada automáticamente" id="20" name="Google Shape;20;p19"/>
          <p:cNvPicPr preferRelativeResize="0"/>
          <p:nvPr/>
        </p:nvPicPr>
        <p:blipFill rotWithShape="1">
          <a:blip r:embed="rId2">
            <a:alphaModFix/>
          </a:blip>
          <a:srcRect b="0" l="0" r="0" t="0"/>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b="0" l="0" r="0" t="0"/>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seño personalizado">
  <p:cSld name="Diseño personalizado">
    <p:bg>
      <p:bgPr>
        <a:blipFill>
          <a:blip r:embed="rId2">
            <a:alphaModFix/>
          </a:blip>
          <a:stretch>
            <a:fillRect/>
          </a:stretch>
        </a:blipFill>
      </p:bgPr>
    </p:bg>
    <p:spTree>
      <p:nvGrpSpPr>
        <p:cNvPr id="22" name="Shape 22"/>
        <p:cNvGrpSpPr/>
        <p:nvPr/>
      </p:nvGrpSpPr>
      <p:grpSpPr>
        <a:xfrm>
          <a:off x="0" y="0"/>
          <a:ext cx="0" cy="0"/>
          <a:chOff x="0" y="0"/>
          <a:chExt cx="0" cy="0"/>
        </a:xfrm>
      </p:grpSpPr>
      <p:sp>
        <p:nvSpPr>
          <p:cNvPr id="23" name="Google Shape;23;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type="blank">
  <p:cSld name="BLANK">
    <p:spTree>
      <p:nvGrpSpPr>
        <p:cNvPr id="27" name="Shape 27"/>
        <p:cNvGrpSpPr/>
        <p:nvPr/>
      </p:nvGrpSpPr>
      <p:grpSpPr>
        <a:xfrm>
          <a:off x="0" y="0"/>
          <a:ext cx="0" cy="0"/>
          <a:chOff x="0" y="0"/>
          <a:chExt cx="0" cy="0"/>
        </a:xfrm>
      </p:grpSpPr>
      <p:sp>
        <p:nvSpPr>
          <p:cNvPr id="28" name="Google Shape;28;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31" name="Shape 31"/>
        <p:cNvGrpSpPr/>
        <p:nvPr/>
      </p:nvGrpSpPr>
      <p:grpSpPr>
        <a:xfrm>
          <a:off x="0" y="0"/>
          <a:ext cx="0" cy="0"/>
          <a:chOff x="0" y="0"/>
          <a:chExt cx="0" cy="0"/>
        </a:xfrm>
      </p:grpSpPr>
      <p:sp>
        <p:nvSpPr>
          <p:cNvPr id="32" name="Google Shape;32;p2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2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4" name="Google Shape;34;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type="obj">
  <p:cSld name="OBJECT">
    <p:spTree>
      <p:nvGrpSpPr>
        <p:cNvPr id="37" name="Shape 37"/>
        <p:cNvGrpSpPr/>
        <p:nvPr/>
      </p:nvGrpSpPr>
      <p:grpSpPr>
        <a:xfrm>
          <a:off x="0" y="0"/>
          <a:ext cx="0" cy="0"/>
          <a:chOff x="0" y="0"/>
          <a:chExt cx="0" cy="0"/>
        </a:xfrm>
      </p:grpSpPr>
      <p:sp>
        <p:nvSpPr>
          <p:cNvPr id="38" name="Google Shape;38;p2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 name="Google Shape;39;p2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 name="Google Shape;4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type="secHead">
  <p:cSld name="SECTION_HEADER">
    <p:spTree>
      <p:nvGrpSpPr>
        <p:cNvPr id="43" name="Shape 43"/>
        <p:cNvGrpSpPr/>
        <p:nvPr/>
      </p:nvGrpSpPr>
      <p:grpSpPr>
        <a:xfrm>
          <a:off x="0" y="0"/>
          <a:ext cx="0" cy="0"/>
          <a:chOff x="0" y="0"/>
          <a:chExt cx="0" cy="0"/>
        </a:xfrm>
      </p:grpSpPr>
      <p:sp>
        <p:nvSpPr>
          <p:cNvPr id="44" name="Google Shape;44;p2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5" name="Google Shape;45;p2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46" name="Google Shape;46;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os objetos" type="twoObj">
  <p:cSld name="TWO_OBJECTS">
    <p:spTree>
      <p:nvGrpSpPr>
        <p:cNvPr id="49" name="Shape 49"/>
        <p:cNvGrpSpPr/>
        <p:nvPr/>
      </p:nvGrpSpPr>
      <p:grpSpPr>
        <a:xfrm>
          <a:off x="0" y="0"/>
          <a:ext cx="0" cy="0"/>
          <a:chOff x="0" y="0"/>
          <a:chExt cx="0" cy="0"/>
        </a:xfrm>
      </p:grpSpPr>
      <p:sp>
        <p:nvSpPr>
          <p:cNvPr id="50" name="Google Shape;50;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2" name="Google Shape;52;p2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3" name="Google Shape;53;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ción" type="twoTxTwoObj">
  <p:cSld name="TWO_OBJECTS_WITH_TEXT">
    <p:spTree>
      <p:nvGrpSpPr>
        <p:cNvPr id="56" name="Shape 56"/>
        <p:cNvGrpSpPr/>
        <p:nvPr/>
      </p:nvGrpSpPr>
      <p:grpSpPr>
        <a:xfrm>
          <a:off x="0" y="0"/>
          <a:ext cx="0" cy="0"/>
          <a:chOff x="0" y="0"/>
          <a:chExt cx="0" cy="0"/>
        </a:xfrm>
      </p:grpSpPr>
      <p:sp>
        <p:nvSpPr>
          <p:cNvPr id="57" name="Google Shape;57;p2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8" name="Google Shape;58;p2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9" name="Google Shape;59;p2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0" name="Google Shape;60;p2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61" name="Google Shape;61;p2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2" name="Google Shape;62;p2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2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65" name="Shape 65"/>
        <p:cNvGrpSpPr/>
        <p:nvPr/>
      </p:nvGrpSpPr>
      <p:grpSpPr>
        <a:xfrm>
          <a:off x="0" y="0"/>
          <a:ext cx="0" cy="0"/>
          <a:chOff x="0" y="0"/>
          <a:chExt cx="0" cy="0"/>
        </a:xfrm>
      </p:grpSpPr>
      <p:sp>
        <p:nvSpPr>
          <p:cNvPr id="66" name="Google Shape;66;p2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2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2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con título" type="objTx">
  <p:cSld name="OBJECT_WITH_CAPTION_TEXT">
    <p:spTree>
      <p:nvGrpSpPr>
        <p:cNvPr id="70" name="Shape 70"/>
        <p:cNvGrpSpPr/>
        <p:nvPr/>
      </p:nvGrpSpPr>
      <p:grpSpPr>
        <a:xfrm>
          <a:off x="0" y="0"/>
          <a:ext cx="0" cy="0"/>
          <a:chOff x="0" y="0"/>
          <a:chExt cx="0" cy="0"/>
        </a:xfrm>
      </p:grpSpPr>
      <p:sp>
        <p:nvSpPr>
          <p:cNvPr id="71" name="Google Shape;71;p28"/>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28"/>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73" name="Google Shape;73;p28"/>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4" name="Google Shape;74;p2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2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2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n con título" type="picTx">
  <p:cSld name="PICTURE_WITH_CAPTION_TEXT">
    <p:spTree>
      <p:nvGrpSpPr>
        <p:cNvPr id="77" name="Shape 77"/>
        <p:cNvGrpSpPr/>
        <p:nvPr/>
      </p:nvGrpSpPr>
      <p:grpSpPr>
        <a:xfrm>
          <a:off x="0" y="0"/>
          <a:ext cx="0" cy="0"/>
          <a:chOff x="0" y="0"/>
          <a:chExt cx="0" cy="0"/>
        </a:xfrm>
      </p:grpSpPr>
      <p:sp>
        <p:nvSpPr>
          <p:cNvPr id="78" name="Google Shape;78;p2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29"/>
          <p:cNvSpPr/>
          <p:nvPr>
            <p:ph idx="2" type="pic"/>
          </p:nvPr>
        </p:nvSpPr>
        <p:spPr>
          <a:xfrm>
            <a:off x="5183188" y="987425"/>
            <a:ext cx="6172200" cy="4873625"/>
          </a:xfrm>
          <a:prstGeom prst="rect">
            <a:avLst/>
          </a:prstGeom>
          <a:noFill/>
          <a:ln>
            <a:noFill/>
          </a:ln>
        </p:spPr>
      </p:sp>
      <p:sp>
        <p:nvSpPr>
          <p:cNvPr id="80" name="Google Shape;80;p29"/>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81" name="Google Shape;81;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texto vertical" type="vertTx">
  <p:cSld name="VERTICAL_TEXT">
    <p:spTree>
      <p:nvGrpSpPr>
        <p:cNvPr id="84" name="Shape 84"/>
        <p:cNvGrpSpPr/>
        <p:nvPr/>
      </p:nvGrpSpPr>
      <p:grpSpPr>
        <a:xfrm>
          <a:off x="0" y="0"/>
          <a:ext cx="0" cy="0"/>
          <a:chOff x="0" y="0"/>
          <a:chExt cx="0" cy="0"/>
        </a:xfrm>
      </p:grpSpPr>
      <p:sp>
        <p:nvSpPr>
          <p:cNvPr id="85" name="Google Shape;85;p3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30"/>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7" name="Google Shape;87;p3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3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3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ertical y texto" type="vertTitleAndTx">
  <p:cSld name="VERTICAL_TITLE_AND_VERTICAL_TEXT">
    <p:spTree>
      <p:nvGrpSpPr>
        <p:cNvPr id="90" name="Shape 90"/>
        <p:cNvGrpSpPr/>
        <p:nvPr/>
      </p:nvGrpSpPr>
      <p:grpSpPr>
        <a:xfrm>
          <a:off x="0" y="0"/>
          <a:ext cx="0" cy="0"/>
          <a:chOff x="0" y="0"/>
          <a:chExt cx="0" cy="0"/>
        </a:xfrm>
      </p:grpSpPr>
      <p:sp>
        <p:nvSpPr>
          <p:cNvPr id="91" name="Google Shape;91;p31"/>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31"/>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3" name="Google Shape;93;p3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4" name="Google Shape;94;p3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3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MX"/>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0.png"/><Relationship Id="rId4" Type="http://schemas.openxmlformats.org/officeDocument/2006/relationships/image" Target="../media/image14.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4.png"/><Relationship Id="rId4" Type="http://schemas.openxmlformats.org/officeDocument/2006/relationships/image" Target="../media/image7.png"/><Relationship Id="rId5"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hyperlink" Target="https://forms.gle/mygN8hwspY6cPo2K6" TargetMode="External"/><Relationship Id="rId4" Type="http://schemas.openxmlformats.org/officeDocument/2006/relationships/hyperlink" Target="https://forms.gle/mygN8hwspY6cPo2K6" TargetMode="External"/><Relationship Id="rId9" Type="http://schemas.openxmlformats.org/officeDocument/2006/relationships/image" Target="../media/image4.png"/><Relationship Id="rId5" Type="http://schemas.openxmlformats.org/officeDocument/2006/relationships/hyperlink" Target="https://docs.google.com/document/d/1hUNuXN74zkWklU7JHV1C2Eg7h8_buByc/edit?usp=sharing&amp;ouid=110984401584463252056&amp;rtpof=true&amp;sd=true" TargetMode="External"/><Relationship Id="rId6" Type="http://schemas.openxmlformats.org/officeDocument/2006/relationships/hyperlink" Target="https://docs.google.com/document/d/19fb_yMSavdpKgo4-iXuHDx7MvqHGwpOrQmrW8WEoYcM/edit?tab=t.0" TargetMode="External"/><Relationship Id="rId7" Type="http://schemas.openxmlformats.org/officeDocument/2006/relationships/hyperlink" Target="https://docs.google.com/document/d/1k89GukGZqF4sdMDzXDMdkwlsAVQvETv5/edit" TargetMode="External"/><Relationship Id="rId8"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http://node.js" TargetMode="External"/><Relationship Id="rId6" Type="http://schemas.openxmlformats.org/officeDocument/2006/relationships/image" Target="../media/image15.png"/><Relationship Id="rId7" Type="http://schemas.openxmlformats.org/officeDocument/2006/relationships/image" Target="../media/image9.png"/><Relationship Id="rId8"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
          <p:cNvSpPr txBox="1"/>
          <p:nvPr/>
        </p:nvSpPr>
        <p:spPr>
          <a:xfrm>
            <a:off x="927400" y="2854475"/>
            <a:ext cx="51981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t/>
            </a:r>
            <a:endParaRPr b="1" sz="3400">
              <a:solidFill>
                <a:srgbClr val="0C0C0C"/>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8573749" y="2185900"/>
            <a:ext cx="2626000" cy="2662575"/>
          </a:xfrm>
          <a:prstGeom prst="rect">
            <a:avLst/>
          </a:prstGeom>
          <a:noFill/>
          <a:ln>
            <a:noFill/>
          </a:ln>
        </p:spPr>
      </p:pic>
      <p:pic>
        <p:nvPicPr>
          <p:cNvPr id="103" name="Google Shape;103;p1"/>
          <p:cNvPicPr preferRelativeResize="0"/>
          <p:nvPr/>
        </p:nvPicPr>
        <p:blipFill>
          <a:blip r:embed="rId4">
            <a:alphaModFix/>
          </a:blip>
          <a:stretch>
            <a:fillRect/>
          </a:stretch>
        </p:blipFill>
        <p:spPr>
          <a:xfrm>
            <a:off x="5140925" y="2329025"/>
            <a:ext cx="2970400" cy="237632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7" name="Shape 107"/>
        <p:cNvGrpSpPr/>
        <p:nvPr/>
      </p:nvGrpSpPr>
      <p:grpSpPr>
        <a:xfrm>
          <a:off x="0" y="0"/>
          <a:ext cx="0" cy="0"/>
          <a:chOff x="0" y="0"/>
          <a:chExt cx="0" cy="0"/>
        </a:xfrm>
      </p:grpSpPr>
      <p:sp>
        <p:nvSpPr>
          <p:cNvPr id="108" name="Google Shape;108;p2"/>
          <p:cNvSpPr txBox="1"/>
          <p:nvPr/>
        </p:nvSpPr>
        <p:spPr>
          <a:xfrm>
            <a:off x="2092050" y="709450"/>
            <a:ext cx="8007900" cy="2308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s-MX" sz="7200">
                <a:solidFill>
                  <a:schemeClr val="lt1"/>
                </a:solidFill>
                <a:latin typeface="Work Sans Light"/>
                <a:ea typeface="Work Sans Light"/>
                <a:cs typeface="Work Sans Light"/>
                <a:sym typeface="Work Sans Light"/>
              </a:rPr>
              <a:t>INNOVATION FUSION STORE</a:t>
            </a:r>
            <a:endParaRPr/>
          </a:p>
        </p:txBody>
      </p:sp>
      <p:cxnSp>
        <p:nvCxnSpPr>
          <p:cNvPr id="109" name="Google Shape;109;p2"/>
          <p:cNvCxnSpPr/>
          <p:nvPr/>
        </p:nvCxnSpPr>
        <p:spPr>
          <a:xfrm>
            <a:off x="5227899" y="3321934"/>
            <a:ext cx="1736203" cy="0"/>
          </a:xfrm>
          <a:prstGeom prst="straightConnector1">
            <a:avLst/>
          </a:prstGeom>
          <a:noFill/>
          <a:ln cap="flat" cmpd="sng" w="9525">
            <a:solidFill>
              <a:schemeClr val="lt1"/>
            </a:solidFill>
            <a:prstDash val="solid"/>
            <a:miter lim="800000"/>
            <a:headEnd len="sm" w="sm" type="none"/>
            <a:tailEnd len="sm" w="sm" type="none"/>
          </a:ln>
        </p:spPr>
      </p:cxnSp>
      <p:sp>
        <p:nvSpPr>
          <p:cNvPr id="110" name="Google Shape;110;p2"/>
          <p:cNvSpPr txBox="1"/>
          <p:nvPr/>
        </p:nvSpPr>
        <p:spPr>
          <a:xfrm>
            <a:off x="4168816" y="3463724"/>
            <a:ext cx="3854400" cy="1077300"/>
          </a:xfrm>
          <a:prstGeom prst="rect">
            <a:avLst/>
          </a:prstGeom>
          <a:noFill/>
          <a:ln>
            <a:noFill/>
          </a:ln>
        </p:spPr>
        <p:txBody>
          <a:bodyPr anchorCtr="0" anchor="t" bIns="45700" lIns="91425" spcFirstLastPara="1" rIns="91425" wrap="square" tIns="45700">
            <a:spAutoFit/>
          </a:bodyPr>
          <a:lstStyle/>
          <a:p>
            <a:pPr indent="457200" lvl="0" marL="0" marR="0" rtl="0" algn="l">
              <a:spcBef>
                <a:spcPts val="0"/>
              </a:spcBef>
              <a:spcAft>
                <a:spcPts val="0"/>
              </a:spcAft>
              <a:buNone/>
            </a:pPr>
            <a:r>
              <a:rPr lang="es-MX" sz="1600">
                <a:solidFill>
                  <a:schemeClr val="lt1"/>
                </a:solidFill>
                <a:latin typeface="Work Sans Light"/>
                <a:ea typeface="Work Sans Light"/>
                <a:cs typeface="Work Sans Light"/>
                <a:sym typeface="Work Sans Light"/>
              </a:rPr>
              <a:t>Bohorquez Diaz Daniela Lorena</a:t>
            </a:r>
            <a:endParaRPr sz="1600">
              <a:solidFill>
                <a:schemeClr val="lt1"/>
              </a:solidFill>
              <a:latin typeface="Work Sans Light"/>
              <a:ea typeface="Work Sans Light"/>
              <a:cs typeface="Work Sans Light"/>
              <a:sym typeface="Work Sans Light"/>
            </a:endParaRPr>
          </a:p>
          <a:p>
            <a:pPr indent="0" lvl="0" marL="0" rtl="0" algn="ctr">
              <a:spcBef>
                <a:spcPts val="0"/>
              </a:spcBef>
              <a:spcAft>
                <a:spcPts val="0"/>
              </a:spcAft>
              <a:buClr>
                <a:schemeClr val="dk1"/>
              </a:buClr>
              <a:buFont typeface="Arial"/>
              <a:buNone/>
            </a:pPr>
            <a:r>
              <a:rPr lang="es-MX" sz="1600">
                <a:solidFill>
                  <a:schemeClr val="lt1"/>
                </a:solidFill>
                <a:latin typeface="Work Sans Light"/>
                <a:ea typeface="Work Sans Light"/>
                <a:cs typeface="Work Sans Light"/>
                <a:sym typeface="Work Sans Light"/>
              </a:rPr>
              <a:t>Carvajal Bonilla Jhonatan</a:t>
            </a:r>
            <a:endParaRPr sz="1600">
              <a:solidFill>
                <a:schemeClr val="lt1"/>
              </a:solidFill>
              <a:latin typeface="Work Sans Light"/>
              <a:ea typeface="Work Sans Light"/>
              <a:cs typeface="Work Sans Light"/>
              <a:sym typeface="Work Sans Light"/>
            </a:endParaRPr>
          </a:p>
          <a:p>
            <a:pPr indent="0" lvl="0" marL="0" marR="0" rtl="0" algn="ctr">
              <a:spcBef>
                <a:spcPts val="0"/>
              </a:spcBef>
              <a:spcAft>
                <a:spcPts val="0"/>
              </a:spcAft>
              <a:buNone/>
            </a:pPr>
            <a:r>
              <a:rPr lang="es-MX" sz="1600">
                <a:solidFill>
                  <a:schemeClr val="lt1"/>
                </a:solidFill>
                <a:latin typeface="Work Sans Light"/>
                <a:ea typeface="Work Sans Light"/>
                <a:cs typeface="Work Sans Light"/>
                <a:sym typeface="Work Sans Light"/>
              </a:rPr>
              <a:t>Morcillo Quiroga Katherin</a:t>
            </a:r>
            <a:endParaRPr sz="2400">
              <a:solidFill>
                <a:schemeClr val="lt1"/>
              </a:solidFill>
              <a:latin typeface="Work Sans Light"/>
              <a:ea typeface="Work Sans Light"/>
              <a:cs typeface="Work Sans Light"/>
              <a:sym typeface="Work Sans Light"/>
            </a:endParaRPr>
          </a:p>
          <a:p>
            <a:pPr indent="0" lvl="0" marL="0" marR="0" rtl="0" algn="ctr">
              <a:spcBef>
                <a:spcPts val="0"/>
              </a:spcBef>
              <a:spcAft>
                <a:spcPts val="0"/>
              </a:spcAft>
              <a:buNone/>
            </a:pPr>
            <a:r>
              <a:rPr lang="es-MX" sz="1600">
                <a:solidFill>
                  <a:schemeClr val="lt1"/>
                </a:solidFill>
                <a:latin typeface="Work Sans Light"/>
                <a:ea typeface="Work Sans Light"/>
                <a:cs typeface="Work Sans Light"/>
                <a:sym typeface="Work Sans Light"/>
              </a:rPr>
              <a:t>Rachen Cardenas Brayan Santiago</a:t>
            </a:r>
            <a:endParaRPr sz="160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s-MX" sz="1600">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indent="0" lvl="0" marL="0" marR="0" rtl="0" algn="ctr">
              <a:spcBef>
                <a:spcPts val="0"/>
              </a:spcBef>
              <a:spcAft>
                <a:spcPts val="0"/>
              </a:spcAft>
              <a:buNone/>
            </a:pPr>
            <a:r>
              <a:rPr b="1" lang="es-MX" sz="1600">
                <a:solidFill>
                  <a:schemeClr val="lt1"/>
                </a:solidFill>
                <a:latin typeface="Work Sans Light"/>
                <a:ea typeface="Work Sans Light"/>
                <a:cs typeface="Work Sans Light"/>
                <a:sym typeface="Work Sans Light"/>
              </a:rPr>
              <a:t>Tecnólogo</a:t>
            </a:r>
            <a:r>
              <a:rPr b="1" lang="es-MX" sz="1600">
                <a:solidFill>
                  <a:schemeClr val="lt1"/>
                </a:solidFill>
                <a:latin typeface="Work Sans Light"/>
                <a:ea typeface="Work Sans Light"/>
                <a:cs typeface="Work Sans Light"/>
                <a:sym typeface="Work Sans Light"/>
              </a:rPr>
              <a:t> en </a:t>
            </a:r>
            <a:r>
              <a:rPr b="1" lang="es-MX" sz="1600">
                <a:solidFill>
                  <a:schemeClr val="lt1"/>
                </a:solidFill>
                <a:latin typeface="Work Sans Light"/>
                <a:ea typeface="Work Sans Light"/>
                <a:cs typeface="Work Sans Light"/>
                <a:sym typeface="Work Sans Light"/>
              </a:rPr>
              <a:t>Análisis</a:t>
            </a:r>
            <a:r>
              <a:rPr b="1" lang="es-MX" sz="1600">
                <a:solidFill>
                  <a:schemeClr val="lt1"/>
                </a:solidFill>
                <a:latin typeface="Work Sans Light"/>
                <a:ea typeface="Work Sans Light"/>
                <a:cs typeface="Work Sans Light"/>
                <a:sym typeface="Work Sans Light"/>
              </a:rPr>
              <a:t> y </a:t>
            </a:r>
            <a:r>
              <a:rPr b="1" lang="es-MX" sz="1600">
                <a:solidFill>
                  <a:schemeClr val="lt1"/>
                </a:solidFill>
                <a:latin typeface="Work Sans Light"/>
                <a:ea typeface="Work Sans Light"/>
                <a:cs typeface="Work Sans Light"/>
                <a:sym typeface="Work Sans Light"/>
              </a:rPr>
              <a:t>Desarrollo</a:t>
            </a:r>
            <a:r>
              <a:rPr b="1" lang="es-MX" sz="1600">
                <a:solidFill>
                  <a:schemeClr val="lt1"/>
                </a:solidFill>
                <a:latin typeface="Work Sans Light"/>
                <a:ea typeface="Work Sans Light"/>
                <a:cs typeface="Work Sans Light"/>
                <a:sym typeface="Work Sans Light"/>
              </a:rPr>
              <a:t> de Software</a:t>
            </a:r>
            <a:endParaRPr/>
          </a:p>
          <a:p>
            <a:pPr indent="0" lvl="0" marL="0" marR="0" rtl="0" algn="ctr">
              <a:spcBef>
                <a:spcPts val="0"/>
              </a:spcBef>
              <a:spcAft>
                <a:spcPts val="0"/>
              </a:spcAft>
              <a:buNone/>
            </a:pPr>
            <a:r>
              <a:rPr b="1" lang="es-MX" sz="1600">
                <a:solidFill>
                  <a:schemeClr val="lt1"/>
                </a:solidFill>
                <a:latin typeface="Work Sans Light"/>
                <a:ea typeface="Work Sans Light"/>
                <a:cs typeface="Work Sans Light"/>
                <a:sym typeface="Work Sans Light"/>
              </a:rPr>
              <a:t>Instructor Albeiro Ramos</a:t>
            </a:r>
            <a:endParaRPr/>
          </a:p>
          <a:p>
            <a:pPr indent="0" lvl="0" marL="0" marR="0" rtl="0" algn="ctr">
              <a:spcBef>
                <a:spcPts val="0"/>
              </a:spcBef>
              <a:spcAft>
                <a:spcPts val="0"/>
              </a:spcAft>
              <a:buNone/>
            </a:pPr>
            <a:r>
              <a:rPr b="1" lang="es-MX" sz="1600">
                <a:solidFill>
                  <a:schemeClr val="lt1"/>
                </a:solidFill>
                <a:latin typeface="Work Sans Light"/>
                <a:ea typeface="Work Sans Light"/>
                <a:cs typeface="Work Sans Light"/>
                <a:sym typeface="Work Sans Light"/>
              </a:rPr>
              <a:t>Bogotá, 30 de Julio de 2025</a:t>
            </a:r>
            <a:endParaRPr b="1" sz="1600">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5" name="Shape 115"/>
        <p:cNvGrpSpPr/>
        <p:nvPr/>
      </p:nvGrpSpPr>
      <p:grpSpPr>
        <a:xfrm>
          <a:off x="0" y="0"/>
          <a:ext cx="0" cy="0"/>
          <a:chOff x="0" y="0"/>
          <a:chExt cx="0" cy="0"/>
        </a:xfrm>
      </p:grpSpPr>
      <p:sp>
        <p:nvSpPr>
          <p:cNvPr id="116" name="Google Shape;116;g363988e4161_0_0"/>
          <p:cNvSpPr/>
          <p:nvPr/>
        </p:nvSpPr>
        <p:spPr>
          <a:xfrm>
            <a:off x="498593" y="494977"/>
            <a:ext cx="2940000" cy="3471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7" name="Google Shape;117;g363988e4161_0_0"/>
          <p:cNvSpPr txBox="1"/>
          <p:nvPr/>
        </p:nvSpPr>
        <p:spPr>
          <a:xfrm>
            <a:off x="498595" y="273824"/>
            <a:ext cx="35148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g363988e4161_0_0"/>
          <p:cNvSpPr txBox="1"/>
          <p:nvPr/>
        </p:nvSpPr>
        <p:spPr>
          <a:xfrm>
            <a:off x="413900" y="1014125"/>
            <a:ext cx="7197600" cy="5695200"/>
          </a:xfrm>
          <a:prstGeom prst="rect">
            <a:avLst/>
          </a:prstGeom>
          <a:noFill/>
          <a:ln>
            <a:noFill/>
          </a:ln>
        </p:spPr>
        <p:txBody>
          <a:bodyPr anchorCtr="0" anchor="t" bIns="45700" lIns="91425" spcFirstLastPara="1" rIns="91425" wrap="square" tIns="45700">
            <a:spAutoFit/>
          </a:bodyPr>
          <a:lstStyle/>
          <a:p>
            <a:pPr indent="0" lvl="0" marL="0" marR="0" rtl="0" algn="just">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Innovation Fusion opera en los sectores industrial y comercial, fabricando y vendiendo calzado y bolsos. Su modelo de negocio se basa en replicar las últimas tendencias de moda. Actualmente, la gestión de pedidos, compras y ventas se realiza de forma manual, lo que genera grandes desafíos para su crecimiento y competitividad en el mercado actual.</a:t>
            </a:r>
            <a:endParaRPr sz="1100">
              <a:solidFill>
                <a:schemeClr val="dk1"/>
              </a:solidFill>
            </a:endParaRPr>
          </a:p>
          <a:p>
            <a:pPr indent="0" lvl="0" marL="0" marR="0" rtl="0" algn="l">
              <a:lnSpc>
                <a:spcPct val="100000"/>
              </a:lnSpc>
              <a:spcBef>
                <a:spcPts val="1200"/>
              </a:spcBef>
              <a:spcAft>
                <a:spcPts val="0"/>
              </a:spcAft>
              <a:buNone/>
            </a:pPr>
            <a:r>
              <a:rPr b="1" lang="es-MX" sz="1600">
                <a:solidFill>
                  <a:schemeClr val="dk1"/>
                </a:solidFill>
                <a:latin typeface="Work Sans"/>
                <a:ea typeface="Work Sans"/>
                <a:cs typeface="Work Sans"/>
                <a:sym typeface="Work Sans"/>
              </a:rPr>
              <a:t>Problemática Central:</a:t>
            </a:r>
            <a:endParaRPr b="1" sz="1600">
              <a:solidFill>
                <a:schemeClr val="dk1"/>
              </a:solidFill>
              <a:latin typeface="Work Sans"/>
              <a:ea typeface="Work Sans"/>
              <a:cs typeface="Work Sans"/>
              <a:sym typeface="Work Sans"/>
            </a:endParaRPr>
          </a:p>
          <a:p>
            <a:pPr indent="0" lvl="0" marL="0" rtl="0" algn="just">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La principal dificultad de Innovation Fusion es la falta de una plataforma digital. Esto limita severamente su visibilidad y capacidad para atraer nuevos clientes, poniéndola en desventaja. El manejo manual de sus procesos operativos clave crea ineficiencias que dificultan enormemente la escalabilidad del negocio.</a:t>
            </a:r>
            <a:endParaRPr sz="1600">
              <a:solidFill>
                <a:schemeClr val="dk1"/>
              </a:solidFill>
              <a:latin typeface="Work Sans Light"/>
              <a:ea typeface="Work Sans Light"/>
              <a:cs typeface="Work Sans Light"/>
              <a:sym typeface="Work Sans Light"/>
            </a:endParaRPr>
          </a:p>
          <a:p>
            <a:pPr indent="0" lvl="0" marL="0" marR="0" rtl="0" algn="l">
              <a:lnSpc>
                <a:spcPct val="100000"/>
              </a:lnSpc>
              <a:spcBef>
                <a:spcPts val="1200"/>
              </a:spcBef>
              <a:spcAft>
                <a:spcPts val="0"/>
              </a:spcAft>
              <a:buNone/>
            </a:pPr>
            <a:r>
              <a:rPr b="1" lang="es-MX" sz="1600">
                <a:solidFill>
                  <a:schemeClr val="dk1"/>
                </a:solidFill>
                <a:latin typeface="Work Sans"/>
                <a:ea typeface="Work Sans"/>
                <a:cs typeface="Work Sans"/>
                <a:sym typeface="Work Sans"/>
              </a:rPr>
              <a:t>Objetivos del Proyecto:</a:t>
            </a:r>
            <a:endParaRPr b="1" sz="1600">
              <a:solidFill>
                <a:schemeClr val="dk1"/>
              </a:solidFill>
              <a:latin typeface="Work Sans"/>
              <a:ea typeface="Work Sans"/>
              <a:cs typeface="Work Sans"/>
              <a:sym typeface="Work Sans"/>
            </a:endParaRPr>
          </a:p>
          <a:p>
            <a:pPr indent="0" lvl="0" marL="0" marR="0" rtl="0" algn="just">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objetivo general es desarrollar e implementar un Sistema de Información Web para Innovation Fusion. Este sistema facilitará la compra de calzado y bolsos de forma segura y eficiente. Los objetivos específicos incluyen gestionar usuarios, el catálogo de productos, el carrito de compras, los pagos, las promociones, las reseñas y la administración de descuentos.</a:t>
            </a:r>
            <a:endParaRPr sz="1600">
              <a:solidFill>
                <a:schemeClr val="dk1"/>
              </a:solidFill>
              <a:latin typeface="Work Sans Light"/>
              <a:ea typeface="Work Sans Light"/>
              <a:cs typeface="Work Sans Light"/>
              <a:sym typeface="Work Sans Light"/>
            </a:endParaRPr>
          </a:p>
        </p:txBody>
      </p:sp>
      <p:pic>
        <p:nvPicPr>
          <p:cNvPr id="119" name="Google Shape;119;g363988e4161_0_0"/>
          <p:cNvPicPr preferRelativeResize="0"/>
          <p:nvPr/>
        </p:nvPicPr>
        <p:blipFill>
          <a:blip r:embed="rId4">
            <a:alphaModFix/>
          </a:blip>
          <a:stretch>
            <a:fillRect/>
          </a:stretch>
        </p:blipFill>
        <p:spPr>
          <a:xfrm>
            <a:off x="7897404" y="0"/>
            <a:ext cx="4294595" cy="6858000"/>
          </a:xfrm>
          <a:prstGeom prst="rect">
            <a:avLst/>
          </a:prstGeom>
          <a:noFill/>
          <a:ln>
            <a:noFill/>
          </a:ln>
        </p:spPr>
      </p:pic>
      <p:pic>
        <p:nvPicPr>
          <p:cNvPr id="120" name="Google Shape;120;g363988e4161_0_0"/>
          <p:cNvPicPr preferRelativeResize="0"/>
          <p:nvPr/>
        </p:nvPicPr>
        <p:blipFill>
          <a:blip r:embed="rId5">
            <a:alphaModFix/>
          </a:blip>
          <a:stretch>
            <a:fillRect/>
          </a:stretch>
        </p:blipFill>
        <p:spPr>
          <a:xfrm>
            <a:off x="7912585" y="0"/>
            <a:ext cx="4264231"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4" name="Shape 124"/>
        <p:cNvGrpSpPr/>
        <p:nvPr/>
      </p:nvGrpSpPr>
      <p:grpSpPr>
        <a:xfrm>
          <a:off x="0" y="0"/>
          <a:ext cx="0" cy="0"/>
          <a:chOff x="0" y="0"/>
          <a:chExt cx="0" cy="0"/>
        </a:xfrm>
      </p:grpSpPr>
      <p:sp>
        <p:nvSpPr>
          <p:cNvPr id="125" name="Google Shape;125;g363988e4161_0_24"/>
          <p:cNvSpPr/>
          <p:nvPr/>
        </p:nvSpPr>
        <p:spPr>
          <a:xfrm>
            <a:off x="1786193" y="549352"/>
            <a:ext cx="2940000" cy="3471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6" name="Google Shape;126;g363988e4161_0_24"/>
          <p:cNvSpPr txBox="1"/>
          <p:nvPr/>
        </p:nvSpPr>
        <p:spPr>
          <a:xfrm>
            <a:off x="1786195" y="219949"/>
            <a:ext cx="35148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27" name="Google Shape;127;g363988e4161_0_24"/>
          <p:cNvSpPr txBox="1"/>
          <p:nvPr/>
        </p:nvSpPr>
        <p:spPr>
          <a:xfrm>
            <a:off x="1786200" y="896450"/>
            <a:ext cx="8619600" cy="5657400"/>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1200"/>
              </a:spcBef>
              <a:spcAft>
                <a:spcPts val="0"/>
              </a:spcAft>
              <a:buNone/>
            </a:pPr>
            <a:r>
              <a:rPr b="1" lang="es-MX" sz="1600">
                <a:solidFill>
                  <a:schemeClr val="dk1"/>
                </a:solidFill>
                <a:latin typeface="Work Sans"/>
                <a:ea typeface="Work Sans"/>
                <a:cs typeface="Work Sans"/>
                <a:sym typeface="Work Sans"/>
              </a:rPr>
              <a:t>Justificación del Proyecto</a:t>
            </a:r>
            <a:endParaRPr b="1" sz="1600">
              <a:solidFill>
                <a:schemeClr val="dk1"/>
              </a:solidFill>
              <a:latin typeface="Work Sans"/>
              <a:ea typeface="Work Sans"/>
              <a:cs typeface="Work Sans"/>
              <a:sym typeface="Work Sans"/>
            </a:endParaRPr>
          </a:p>
          <a:p>
            <a:pPr indent="0" lvl="0" marL="0" marR="0" rtl="0" algn="just">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Este proyecto es crucial porque Innovation Fusion necesita modernizarse y digitalizar sus operaciones. Esto aumentará su visibilidad en el mercado, mejorará la eficiencia de sus procesos manuales y ofrecerá una experiencia de compra superior y moderna. La digitalización es esencial para su crecimiento y competitividad.</a:t>
            </a:r>
            <a:endParaRPr sz="1600">
              <a:solidFill>
                <a:schemeClr val="dk1"/>
              </a:solidFill>
              <a:latin typeface="Work Sans Light"/>
              <a:ea typeface="Work Sans Light"/>
              <a:cs typeface="Work Sans Light"/>
              <a:sym typeface="Work Sans Light"/>
            </a:endParaRPr>
          </a:p>
          <a:p>
            <a:pPr indent="0" lvl="0" marL="0" marR="0" rtl="0" algn="l">
              <a:lnSpc>
                <a:spcPct val="115000"/>
              </a:lnSpc>
              <a:spcBef>
                <a:spcPts val="1200"/>
              </a:spcBef>
              <a:spcAft>
                <a:spcPts val="0"/>
              </a:spcAft>
              <a:buNone/>
            </a:pPr>
            <a:r>
              <a:rPr b="1" lang="es-MX" sz="1600">
                <a:solidFill>
                  <a:schemeClr val="dk1"/>
                </a:solidFill>
                <a:latin typeface="Work Sans"/>
                <a:ea typeface="Work Sans"/>
                <a:cs typeface="Work Sans"/>
                <a:sym typeface="Work Sans"/>
              </a:rPr>
              <a:t>Alcance del Proyecto</a:t>
            </a:r>
            <a:endParaRPr b="1" sz="1600">
              <a:solidFill>
                <a:schemeClr val="dk1"/>
              </a:solidFill>
              <a:latin typeface="Work Sans"/>
              <a:ea typeface="Work Sans"/>
              <a:cs typeface="Work Sans"/>
              <a:sym typeface="Work Sans"/>
            </a:endParaRPr>
          </a:p>
          <a:p>
            <a:pPr indent="0" lvl="0" marL="0" marR="0" rtl="0" algn="just">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El sistema abarcará el desarrollo de una aplicación web integral. Incluirá funcionalidades de comercio electrónico y administración completa de usuarios (clientes y administradores). Un proceso de compra automatizado, administración de inventario, implementación de promociones y generación de reportes para análisis de datos.</a:t>
            </a:r>
            <a:endParaRPr sz="1600">
              <a:solidFill>
                <a:schemeClr val="dk1"/>
              </a:solidFill>
              <a:latin typeface="Work Sans Light"/>
              <a:ea typeface="Work Sans Light"/>
              <a:cs typeface="Work Sans Light"/>
              <a:sym typeface="Work Sans Light"/>
            </a:endParaRPr>
          </a:p>
          <a:p>
            <a:pPr indent="0" lvl="0" marL="0" marR="0" rtl="0" algn="l">
              <a:lnSpc>
                <a:spcPct val="115000"/>
              </a:lnSpc>
              <a:spcBef>
                <a:spcPts val="1200"/>
              </a:spcBef>
              <a:spcAft>
                <a:spcPts val="0"/>
              </a:spcAft>
              <a:buNone/>
            </a:pPr>
            <a:r>
              <a:rPr b="1" lang="es-MX" sz="1700">
                <a:solidFill>
                  <a:schemeClr val="dk1"/>
                </a:solidFill>
              </a:rPr>
              <a:t> </a:t>
            </a:r>
            <a:r>
              <a:rPr b="1" lang="es-MX" sz="1600">
                <a:solidFill>
                  <a:schemeClr val="dk1"/>
                </a:solidFill>
                <a:latin typeface="Work Sans"/>
                <a:ea typeface="Work Sans"/>
                <a:cs typeface="Work Sans"/>
                <a:sym typeface="Work Sans"/>
              </a:rPr>
              <a:t>Delimitación del Proyecto</a:t>
            </a:r>
            <a:endParaRPr b="1" sz="1600">
              <a:solidFill>
                <a:schemeClr val="dk1"/>
              </a:solidFill>
              <a:latin typeface="Work Sans"/>
              <a:ea typeface="Work Sans"/>
              <a:cs typeface="Work Sans"/>
              <a:sym typeface="Work Sans"/>
            </a:endParaRPr>
          </a:p>
          <a:p>
            <a:pPr indent="0" lvl="0" marL="0" marR="0" rtl="0" algn="just">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sistema se centrará en la interfaz web para la interacción con clientes y la gestión administrativa de ventas e inventario. No automatizará procesos físicos de manufactura (corte, cosido, pegado) ni la subcontratación de modelaje. La logística de envíos y devoluciones se gestionará a nivel de sistema, pero la operación física seguirá a cargo de terceros.</a:t>
            </a:r>
            <a:endParaRPr sz="1600">
              <a:solidFill>
                <a:schemeClr val="dk1"/>
              </a:solidFill>
              <a:latin typeface="Work Sans Light"/>
              <a:ea typeface="Work Sans Light"/>
              <a:cs typeface="Work Sans Light"/>
              <a:sym typeface="Work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1" name="Shape 131"/>
        <p:cNvGrpSpPr/>
        <p:nvPr/>
      </p:nvGrpSpPr>
      <p:grpSpPr>
        <a:xfrm>
          <a:off x="0" y="0"/>
          <a:ext cx="0" cy="0"/>
          <a:chOff x="0" y="0"/>
          <a:chExt cx="0" cy="0"/>
        </a:xfrm>
      </p:grpSpPr>
      <p:sp>
        <p:nvSpPr>
          <p:cNvPr id="132" name="Google Shape;132;p4"/>
          <p:cNvSpPr txBox="1"/>
          <p:nvPr/>
        </p:nvSpPr>
        <p:spPr>
          <a:xfrm>
            <a:off x="456236" y="416689"/>
            <a:ext cx="10515600" cy="741563"/>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33" name="Google Shape;133;p4"/>
          <p:cNvSpPr txBox="1"/>
          <p:nvPr/>
        </p:nvSpPr>
        <p:spPr>
          <a:xfrm>
            <a:off x="6653014" y="2489547"/>
            <a:ext cx="4547400" cy="3540300"/>
          </a:xfrm>
          <a:prstGeom prst="rect">
            <a:avLst/>
          </a:prstGeom>
          <a:noFill/>
          <a:ln>
            <a:noFill/>
          </a:ln>
        </p:spPr>
        <p:txBody>
          <a:bodyPr anchorCtr="0" anchor="t" bIns="45700" lIns="91425" spcFirstLastPara="1" rIns="91425" wrap="square" tIns="45700">
            <a:spAutoFit/>
          </a:bodyPr>
          <a:lstStyle/>
          <a:p>
            <a:pPr indent="-431800" lvl="0" marL="457200" marR="0" rtl="0" algn="l">
              <a:spcBef>
                <a:spcPts val="0"/>
              </a:spcBef>
              <a:spcAft>
                <a:spcPts val="0"/>
              </a:spcAft>
              <a:buClr>
                <a:schemeClr val="dk1"/>
              </a:buClr>
              <a:buSzPts val="3200"/>
              <a:buFont typeface="Work Sans Light"/>
              <a:buAutoNum type="arabicPeriod"/>
            </a:pPr>
            <a:r>
              <a:rPr b="1" lang="es-MX" sz="3200">
                <a:solidFill>
                  <a:schemeClr val="dk1"/>
                </a:solidFill>
                <a:latin typeface="Work Sans Light"/>
                <a:ea typeface="Work Sans Light"/>
                <a:cs typeface="Work Sans Light"/>
                <a:sym typeface="Work Sans Light"/>
              </a:rPr>
              <a:t>Problema</a:t>
            </a:r>
            <a:endParaRPr/>
          </a:p>
          <a:p>
            <a:pPr indent="-431800" lvl="0" marL="457200" marR="0" rtl="0" algn="l">
              <a:spcBef>
                <a:spcPts val="0"/>
              </a:spcBef>
              <a:spcAft>
                <a:spcPts val="0"/>
              </a:spcAft>
              <a:buClr>
                <a:schemeClr val="dk1"/>
              </a:buClr>
              <a:buSzPts val="3200"/>
              <a:buFont typeface="Work Sans Light"/>
              <a:buAutoNum type="arabicPeriod"/>
            </a:pPr>
            <a:r>
              <a:rPr b="1" lang="es-MX" sz="3200">
                <a:solidFill>
                  <a:schemeClr val="dk1"/>
                </a:solidFill>
                <a:latin typeface="Work Sans Light"/>
                <a:ea typeface="Work Sans Light"/>
                <a:cs typeface="Work Sans Light"/>
                <a:sym typeface="Work Sans Light"/>
              </a:rPr>
              <a:t>Objetivos</a:t>
            </a:r>
            <a:endParaRPr/>
          </a:p>
          <a:p>
            <a:pPr indent="-431800" lvl="0" marL="457200" marR="0" rtl="0" algn="l">
              <a:spcBef>
                <a:spcPts val="0"/>
              </a:spcBef>
              <a:spcAft>
                <a:spcPts val="0"/>
              </a:spcAft>
              <a:buClr>
                <a:schemeClr val="dk1"/>
              </a:buClr>
              <a:buSzPts val="3200"/>
              <a:buFont typeface="Work Sans Light"/>
              <a:buAutoNum type="arabicPeriod"/>
            </a:pPr>
            <a:r>
              <a:rPr b="1" lang="es-MX" sz="3200">
                <a:solidFill>
                  <a:schemeClr val="dk1"/>
                </a:solidFill>
                <a:latin typeface="Work Sans Light"/>
                <a:ea typeface="Work Sans Light"/>
                <a:cs typeface="Work Sans Light"/>
                <a:sym typeface="Work Sans Light"/>
              </a:rPr>
              <a:t>Justificación</a:t>
            </a:r>
            <a:endParaRPr/>
          </a:p>
          <a:p>
            <a:pPr indent="-431800" lvl="0" marL="457200" marR="0" rtl="0" algn="l">
              <a:spcBef>
                <a:spcPts val="0"/>
              </a:spcBef>
              <a:spcAft>
                <a:spcPts val="0"/>
              </a:spcAft>
              <a:buClr>
                <a:schemeClr val="dk1"/>
              </a:buClr>
              <a:buSzPts val="3200"/>
              <a:buFont typeface="Work Sans Light"/>
              <a:buAutoNum type="arabicPeriod"/>
            </a:pPr>
            <a:r>
              <a:rPr b="1" lang="es-MX" sz="3200">
                <a:solidFill>
                  <a:schemeClr val="dk1"/>
                </a:solidFill>
                <a:latin typeface="Work Sans Light"/>
                <a:ea typeface="Work Sans Light"/>
                <a:cs typeface="Work Sans Light"/>
                <a:sym typeface="Work Sans Light"/>
              </a:rPr>
              <a:t>Alcance</a:t>
            </a:r>
            <a:endParaRPr/>
          </a:p>
          <a:p>
            <a:pPr indent="-431800" lvl="0" marL="457200" marR="0" rtl="0" algn="l">
              <a:spcBef>
                <a:spcPts val="0"/>
              </a:spcBef>
              <a:spcAft>
                <a:spcPts val="0"/>
              </a:spcAft>
              <a:buClr>
                <a:schemeClr val="dk1"/>
              </a:buClr>
              <a:buSzPts val="3200"/>
              <a:buFont typeface="Work Sans Light"/>
              <a:buAutoNum type="arabicPeriod"/>
            </a:pPr>
            <a:r>
              <a:rPr b="1" lang="es-MX" sz="3200">
                <a:solidFill>
                  <a:schemeClr val="dk1"/>
                </a:solidFill>
                <a:latin typeface="Work Sans Light"/>
                <a:ea typeface="Work Sans Light"/>
                <a:cs typeface="Work Sans Light"/>
                <a:sym typeface="Work Sans Light"/>
              </a:rPr>
              <a:t>Delimitación</a:t>
            </a:r>
            <a:endParaRPr/>
          </a:p>
          <a:p>
            <a:pPr indent="-431800" lvl="0" marL="457200" marR="0" rtl="0" algn="l">
              <a:spcBef>
                <a:spcPts val="0"/>
              </a:spcBef>
              <a:spcAft>
                <a:spcPts val="0"/>
              </a:spcAft>
              <a:buClr>
                <a:schemeClr val="dk1"/>
              </a:buClr>
              <a:buSzPts val="3200"/>
              <a:buFont typeface="Work Sans Light"/>
              <a:buAutoNum type="arabicPeriod"/>
            </a:pPr>
            <a:r>
              <a:rPr b="1" lang="es-MX" sz="3200">
                <a:solidFill>
                  <a:schemeClr val="dk1"/>
                </a:solidFill>
                <a:latin typeface="Work Sans Light"/>
                <a:ea typeface="Work Sans Light"/>
                <a:cs typeface="Work Sans Light"/>
                <a:sym typeface="Work Sans Light"/>
              </a:rPr>
              <a:t>Entregables Trimestre</a:t>
            </a:r>
            <a:endParaRPr/>
          </a:p>
        </p:txBody>
      </p:sp>
      <p:pic>
        <p:nvPicPr>
          <p:cNvPr id="134" name="Google Shape;134;p4"/>
          <p:cNvPicPr preferRelativeResize="0"/>
          <p:nvPr/>
        </p:nvPicPr>
        <p:blipFill>
          <a:blip r:embed="rId4">
            <a:alphaModFix/>
          </a:blip>
          <a:stretch>
            <a:fillRect/>
          </a:stretch>
        </p:blipFill>
        <p:spPr>
          <a:xfrm>
            <a:off x="3573672" y="2820965"/>
            <a:ext cx="2251475" cy="2168075"/>
          </a:xfrm>
          <a:prstGeom prst="rect">
            <a:avLst/>
          </a:prstGeom>
          <a:noFill/>
          <a:ln>
            <a:noFill/>
          </a:ln>
        </p:spPr>
      </p:pic>
      <p:pic>
        <p:nvPicPr>
          <p:cNvPr id="135" name="Google Shape;135;p4"/>
          <p:cNvPicPr preferRelativeResize="0"/>
          <p:nvPr/>
        </p:nvPicPr>
        <p:blipFill rotWithShape="1">
          <a:blip r:embed="rId5">
            <a:alphaModFix/>
          </a:blip>
          <a:srcRect b="0" l="-3970" r="3970" t="0"/>
          <a:stretch/>
        </p:blipFill>
        <p:spPr>
          <a:xfrm>
            <a:off x="349175" y="2820975"/>
            <a:ext cx="2970400" cy="237632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g36393dac501_0_0"/>
          <p:cNvSpPr txBox="1"/>
          <p:nvPr>
            <p:ph type="title"/>
          </p:nvPr>
        </p:nvSpPr>
        <p:spPr>
          <a:xfrm>
            <a:off x="456236" y="110481"/>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p:cNvSpPr txBox="1"/>
          <p:nvPr/>
        </p:nvSpPr>
        <p:spPr>
          <a:xfrm>
            <a:off x="372353" y="1667521"/>
            <a:ext cx="11447400" cy="551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s-MX" sz="1600">
                <a:solidFill>
                  <a:schemeClr val="dk1"/>
                </a:solidFill>
                <a:latin typeface="Work Sans Light"/>
                <a:ea typeface="Work Sans Light"/>
                <a:cs typeface="Work Sans Light"/>
                <a:sym typeface="Work Sans Light"/>
              </a:rPr>
              <a:t>Innovation Fusion es una empresa ubicada en </a:t>
            </a:r>
            <a:r>
              <a:rPr lang="es-MX" sz="1600">
                <a:solidFill>
                  <a:schemeClr val="dk1"/>
                </a:solidFill>
                <a:latin typeface="Work Sans Light"/>
                <a:ea typeface="Work Sans Light"/>
                <a:cs typeface="Work Sans Light"/>
                <a:sym typeface="Work Sans Light"/>
              </a:rPr>
              <a:t>Bogotá</a:t>
            </a:r>
            <a:r>
              <a:rPr lang="es-MX" sz="1600">
                <a:solidFill>
                  <a:schemeClr val="dk1"/>
                </a:solidFill>
                <a:latin typeface="Work Sans Light"/>
                <a:ea typeface="Work Sans Light"/>
                <a:cs typeface="Work Sans Light"/>
                <a:sym typeface="Work Sans Light"/>
              </a:rPr>
              <a:t> dedicada a la </a:t>
            </a:r>
            <a:r>
              <a:rPr lang="es-MX" sz="1600">
                <a:solidFill>
                  <a:schemeClr val="dk1"/>
                </a:solidFill>
                <a:latin typeface="Work Sans Light"/>
                <a:ea typeface="Work Sans Light"/>
                <a:cs typeface="Work Sans Light"/>
                <a:sym typeface="Work Sans Light"/>
              </a:rPr>
              <a:t>fabricación</a:t>
            </a:r>
            <a:r>
              <a:rPr lang="es-MX" sz="1600">
                <a:solidFill>
                  <a:schemeClr val="dk1"/>
                </a:solidFill>
                <a:latin typeface="Work Sans Light"/>
                <a:ea typeface="Work Sans Light"/>
                <a:cs typeface="Work Sans Light"/>
                <a:sym typeface="Work Sans Light"/>
              </a:rPr>
              <a:t> y venta de calzado y bolsos.</a:t>
            </a:r>
            <a:r>
              <a:rPr lang="es-MX" sz="1600">
                <a:solidFill>
                  <a:schemeClr val="dk1"/>
                </a:solidFill>
                <a:latin typeface="Work Sans Light"/>
                <a:ea typeface="Work Sans Light"/>
                <a:cs typeface="Work Sans Light"/>
                <a:sym typeface="Work Sans Light"/>
              </a:rPr>
              <a:t> Su modelo de negocio se basa en el proceso de la manufactura de los insumos, el proceso de la comercialización del producto, y el proceso de la facturación manual</a:t>
            </a:r>
            <a:endParaRPr sz="1600">
              <a:solidFill>
                <a:schemeClr val="dk1"/>
              </a:solidFill>
              <a:latin typeface="Work Sans Light"/>
              <a:ea typeface="Work Sans Light"/>
              <a:cs typeface="Work Sans Light"/>
              <a:sym typeface="Work Sans Light"/>
            </a:endParaRPr>
          </a:p>
          <a:p>
            <a:pPr indent="0" lvl="0" marL="0" marR="0" rtl="0" algn="l">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0" lvl="0" marL="0" marR="0" rtl="0" algn="l">
              <a:spcBef>
                <a:spcPts val="0"/>
              </a:spcBef>
              <a:spcAft>
                <a:spcPts val="0"/>
              </a:spcAft>
              <a:buClr>
                <a:schemeClr val="dk1"/>
              </a:buClr>
              <a:buSzPts val="1600"/>
              <a:buFont typeface="Arial"/>
              <a:buNone/>
            </a:pPr>
            <a:r>
              <a:rPr lang="es-MX" sz="1600">
                <a:solidFill>
                  <a:schemeClr val="dk1"/>
                </a:solidFill>
                <a:latin typeface="Work Sans Light"/>
                <a:ea typeface="Work Sans Light"/>
                <a:cs typeface="Work Sans Light"/>
                <a:sym typeface="Work Sans Light"/>
              </a:rPr>
              <a:t>Se utilizaron </a:t>
            </a:r>
            <a:r>
              <a:rPr lang="es-MX" sz="1600">
                <a:solidFill>
                  <a:schemeClr val="dk1"/>
                </a:solidFill>
                <a:latin typeface="Work Sans Light"/>
                <a:ea typeface="Work Sans Light"/>
                <a:cs typeface="Work Sans Light"/>
                <a:sym typeface="Work Sans Light"/>
              </a:rPr>
              <a:t>técnicas</a:t>
            </a:r>
            <a:r>
              <a:rPr lang="es-MX" sz="1600">
                <a:solidFill>
                  <a:schemeClr val="dk1"/>
                </a:solidFill>
                <a:latin typeface="Work Sans Light"/>
                <a:ea typeface="Work Sans Light"/>
                <a:cs typeface="Work Sans Light"/>
                <a:sym typeface="Work Sans Light"/>
              </a:rPr>
              <a:t> de </a:t>
            </a:r>
            <a:r>
              <a:rPr lang="es-MX" sz="1600">
                <a:solidFill>
                  <a:schemeClr val="dk1"/>
                </a:solidFill>
                <a:latin typeface="Work Sans Light"/>
                <a:ea typeface="Work Sans Light"/>
                <a:cs typeface="Work Sans Light"/>
                <a:sym typeface="Work Sans Light"/>
              </a:rPr>
              <a:t>recolección</a:t>
            </a:r>
            <a:r>
              <a:rPr lang="es-MX" sz="1600">
                <a:solidFill>
                  <a:schemeClr val="dk1"/>
                </a:solidFill>
                <a:latin typeface="Work Sans Light"/>
                <a:ea typeface="Work Sans Light"/>
                <a:cs typeface="Work Sans Light"/>
                <a:sym typeface="Work Sans Light"/>
              </a:rPr>
              <a:t> de datos como lo fueron: la encuesta, </a:t>
            </a:r>
            <a:r>
              <a:rPr lang="es-MX" sz="1600">
                <a:solidFill>
                  <a:schemeClr val="dk1"/>
                </a:solidFill>
                <a:latin typeface="Work Sans Light"/>
                <a:ea typeface="Work Sans Light"/>
                <a:cs typeface="Work Sans Light"/>
                <a:sym typeface="Work Sans Light"/>
              </a:rPr>
              <a:t>la entrevista, </a:t>
            </a:r>
            <a:r>
              <a:rPr lang="es-MX" sz="1600">
                <a:solidFill>
                  <a:schemeClr val="dk1"/>
                </a:solidFill>
                <a:latin typeface="Work Sans Light"/>
                <a:ea typeface="Work Sans Light"/>
                <a:cs typeface="Work Sans Light"/>
                <a:sym typeface="Work Sans Light"/>
              </a:rPr>
              <a:t>el </a:t>
            </a:r>
            <a:r>
              <a:rPr lang="es-MX" sz="1600">
                <a:solidFill>
                  <a:schemeClr val="dk1"/>
                </a:solidFill>
                <a:latin typeface="Work Sans Light"/>
                <a:ea typeface="Work Sans Light"/>
                <a:cs typeface="Work Sans Light"/>
                <a:sym typeface="Work Sans Light"/>
              </a:rPr>
              <a:t>análisis</a:t>
            </a:r>
            <a:r>
              <a:rPr lang="es-MX" sz="1600">
                <a:solidFill>
                  <a:schemeClr val="dk1"/>
                </a:solidFill>
                <a:latin typeface="Work Sans Light"/>
                <a:ea typeface="Work Sans Light"/>
                <a:cs typeface="Work Sans Light"/>
                <a:sym typeface="Work Sans Light"/>
              </a:rPr>
              <a:t> de la competencia.En la encuesta se </a:t>
            </a:r>
            <a:r>
              <a:rPr lang="es-MX" sz="1600">
                <a:solidFill>
                  <a:schemeClr val="dk1"/>
                </a:solidFill>
                <a:latin typeface="Work Sans Light"/>
                <a:ea typeface="Work Sans Light"/>
                <a:cs typeface="Work Sans Light"/>
                <a:sym typeface="Work Sans Light"/>
              </a:rPr>
              <a:t>enfocó</a:t>
            </a:r>
            <a:r>
              <a:rPr lang="es-MX" sz="1600">
                <a:solidFill>
                  <a:schemeClr val="dk1"/>
                </a:solidFill>
                <a:latin typeface="Work Sans Light"/>
                <a:ea typeface="Work Sans Light"/>
                <a:cs typeface="Work Sans Light"/>
                <a:sym typeface="Work Sans Light"/>
              </a:rPr>
              <a:t> a posibles clientes de la empresa(</a:t>
            </a:r>
            <a:r>
              <a:rPr lang="es-MX" sz="1600" u="sng">
                <a:solidFill>
                  <a:schemeClr val="hlink"/>
                </a:solidFill>
                <a:latin typeface="Work Sans"/>
                <a:ea typeface="Work Sans"/>
                <a:cs typeface="Work Sans"/>
                <a:sym typeface="Work Sans"/>
                <a:hlinkClick r:id="rId3"/>
              </a:rPr>
              <a:t>link </a:t>
            </a:r>
            <a:r>
              <a:rPr lang="es-MX" sz="1600" u="sng">
                <a:solidFill>
                  <a:schemeClr val="hlink"/>
                </a:solidFill>
                <a:latin typeface="Work Sans"/>
                <a:ea typeface="Work Sans"/>
                <a:cs typeface="Work Sans"/>
                <a:sym typeface="Work Sans"/>
                <a:hlinkClick r:id="rId4"/>
              </a:rPr>
              <a:t>verla encuesta</a:t>
            </a:r>
            <a:r>
              <a:rPr lang="es-MX" sz="1600">
                <a:solidFill>
                  <a:schemeClr val="dk1"/>
                </a:solidFill>
                <a:latin typeface="Work Sans Light"/>
                <a:ea typeface="Work Sans Light"/>
                <a:cs typeface="Work Sans Light"/>
                <a:sym typeface="Work Sans Light"/>
              </a:rPr>
              <a:t>), se </a:t>
            </a:r>
            <a:r>
              <a:rPr lang="es-MX" sz="1600">
                <a:solidFill>
                  <a:schemeClr val="dk1"/>
                </a:solidFill>
                <a:latin typeface="Work Sans Light"/>
                <a:ea typeface="Work Sans Light"/>
                <a:cs typeface="Work Sans Light"/>
                <a:sym typeface="Work Sans Light"/>
              </a:rPr>
              <a:t>realizó</a:t>
            </a:r>
            <a:r>
              <a:rPr lang="es-MX" sz="1600">
                <a:solidFill>
                  <a:schemeClr val="dk1"/>
                </a:solidFill>
                <a:latin typeface="Work Sans Light"/>
                <a:ea typeface="Work Sans Light"/>
                <a:cs typeface="Work Sans Light"/>
                <a:sym typeface="Work Sans Light"/>
              </a:rPr>
              <a:t> una entrevista, donde se </a:t>
            </a:r>
            <a:r>
              <a:rPr lang="es-MX" sz="1600">
                <a:solidFill>
                  <a:schemeClr val="dk1"/>
                </a:solidFill>
                <a:latin typeface="Work Sans Light"/>
                <a:ea typeface="Work Sans Light"/>
                <a:cs typeface="Work Sans Light"/>
                <a:sym typeface="Work Sans Light"/>
              </a:rPr>
              <a:t>enfocó</a:t>
            </a:r>
            <a:r>
              <a:rPr lang="es-MX" sz="1600">
                <a:solidFill>
                  <a:schemeClr val="dk1"/>
                </a:solidFill>
                <a:latin typeface="Work Sans Light"/>
                <a:ea typeface="Work Sans Light"/>
                <a:cs typeface="Work Sans Light"/>
                <a:sym typeface="Work Sans Light"/>
              </a:rPr>
              <a:t> al gerente de la empresa (</a:t>
            </a:r>
            <a:r>
              <a:rPr lang="es-MX" sz="1600" u="sng">
                <a:solidFill>
                  <a:schemeClr val="hlink"/>
                </a:solidFill>
                <a:latin typeface="Work Sans Light"/>
                <a:ea typeface="Work Sans Light"/>
                <a:cs typeface="Work Sans Light"/>
                <a:sym typeface="Work Sans Light"/>
                <a:hlinkClick r:id="rId5"/>
              </a:rPr>
              <a:t>link de la entrevista</a:t>
            </a:r>
            <a:r>
              <a:rPr lang="es-MX" sz="1600">
                <a:solidFill>
                  <a:schemeClr val="dk1"/>
                </a:solidFill>
                <a:latin typeface="Work Sans Light"/>
                <a:ea typeface="Work Sans Light"/>
                <a:cs typeface="Work Sans Light"/>
                <a:sym typeface="Work Sans Light"/>
              </a:rPr>
              <a:t>)y </a:t>
            </a:r>
            <a:r>
              <a:rPr lang="es-MX" sz="1600">
                <a:solidFill>
                  <a:schemeClr val="dk1"/>
                </a:solidFill>
                <a:latin typeface="Work Sans Light"/>
                <a:ea typeface="Work Sans Light"/>
                <a:cs typeface="Work Sans Light"/>
                <a:sym typeface="Work Sans Light"/>
              </a:rPr>
              <a:t>un análisis de la competencia (</a:t>
            </a:r>
            <a:r>
              <a:rPr lang="es-MX" sz="1600" u="sng">
                <a:solidFill>
                  <a:schemeClr val="hlink"/>
                </a:solidFill>
                <a:latin typeface="Work Sans Light"/>
                <a:ea typeface="Work Sans Light"/>
                <a:cs typeface="Work Sans Light"/>
                <a:sym typeface="Work Sans Light"/>
                <a:hlinkClick r:id="rId6"/>
              </a:rPr>
              <a:t>link de competencia</a:t>
            </a:r>
            <a:r>
              <a:rPr lang="es-MX" sz="1600">
                <a:solidFill>
                  <a:schemeClr val="dk1"/>
                </a:solidFill>
                <a:latin typeface="Work Sans Light"/>
                <a:ea typeface="Work Sans Light"/>
                <a:cs typeface="Work Sans Light"/>
                <a:sym typeface="Work Sans Light"/>
              </a:rPr>
              <a:t>).</a:t>
            </a:r>
            <a:r>
              <a:rPr lang="es-MX" sz="1600">
                <a:solidFill>
                  <a:schemeClr val="dk1"/>
                </a:solidFill>
                <a:latin typeface="Work Sans Light"/>
                <a:ea typeface="Work Sans Light"/>
                <a:cs typeface="Work Sans Light"/>
                <a:sym typeface="Work Sans Light"/>
              </a:rPr>
              <a:t>Se realizaron las conclusiones con: (</a:t>
            </a:r>
            <a:r>
              <a:rPr lang="es-MX" sz="1600" u="sng">
                <a:solidFill>
                  <a:schemeClr val="hlink"/>
                </a:solidFill>
                <a:latin typeface="Work Sans Light"/>
                <a:ea typeface="Work Sans Light"/>
                <a:cs typeface="Work Sans Light"/>
                <a:sym typeface="Work Sans Light"/>
                <a:hlinkClick r:id="rId7"/>
              </a:rPr>
              <a:t>link de los resultados</a:t>
            </a:r>
            <a:r>
              <a:rPr lang="es-MX" sz="1600">
                <a:solidFill>
                  <a:schemeClr val="dk1"/>
                </a:solidFill>
                <a:latin typeface="Work Sans Light"/>
                <a:ea typeface="Work Sans Light"/>
                <a:cs typeface="Work Sans Light"/>
                <a:sym typeface="Work Sans Light"/>
              </a:rPr>
              <a:t>):</a:t>
            </a:r>
            <a:endParaRPr sz="1600">
              <a:solidFill>
                <a:schemeClr val="dk1"/>
              </a:solidFill>
              <a:latin typeface="Work Sans Light"/>
              <a:ea typeface="Work Sans Light"/>
              <a:cs typeface="Work Sans Light"/>
              <a:sym typeface="Work Sans Light"/>
            </a:endParaRPr>
          </a:p>
          <a:p>
            <a:pPr indent="0" lvl="0" marL="0" marR="0" rtl="0" algn="l">
              <a:lnSpc>
                <a:spcPct val="100000"/>
              </a:lnSpc>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0" lvl="0" marL="0" rtl="0" algn="l">
              <a:spcBef>
                <a:spcPts val="0"/>
              </a:spcBef>
              <a:spcAft>
                <a:spcPts val="0"/>
              </a:spcAft>
              <a:buClr>
                <a:schemeClr val="dk1"/>
              </a:buClr>
              <a:buSzPts val="1100"/>
              <a:buFont typeface="Arial"/>
              <a:buNone/>
            </a:pPr>
            <a:r>
              <a:rPr lang="es-MX" sz="1600">
                <a:solidFill>
                  <a:schemeClr val="dk1"/>
                </a:solidFill>
                <a:latin typeface="Work Sans Light"/>
                <a:ea typeface="Work Sans Light"/>
                <a:cs typeface="Work Sans Light"/>
                <a:sym typeface="Work Sans Light"/>
              </a:rPr>
              <a:t>Teniendo en cuenta la recoleccion de informacion y los procesos de la empresa, las necesidades encontradas es el alcance de clientes y la automatización de las facturación </a:t>
            </a:r>
            <a:endParaRPr sz="1600">
              <a:solidFill>
                <a:schemeClr val="dk1"/>
              </a:solidFill>
              <a:latin typeface="Work Sans Light"/>
              <a:ea typeface="Work Sans Light"/>
              <a:cs typeface="Work Sans Light"/>
              <a:sym typeface="Work Sans Light"/>
            </a:endParaRPr>
          </a:p>
          <a:p>
            <a:pPr indent="0" lvl="0" marL="0" rtl="0" algn="l">
              <a:spcBef>
                <a:spcPts val="0"/>
              </a:spcBef>
              <a:spcAft>
                <a:spcPts val="0"/>
              </a:spcAft>
              <a:buClr>
                <a:schemeClr val="dk1"/>
              </a:buClr>
              <a:buSzPts val="1100"/>
              <a:buFont typeface="Arial"/>
              <a:buNone/>
            </a:pPr>
            <a:r>
              <a:t/>
            </a:r>
            <a:endParaRPr sz="1600">
              <a:solidFill>
                <a:schemeClr val="dk1"/>
              </a:solidFill>
              <a:latin typeface="Work Sans Light"/>
              <a:ea typeface="Work Sans Light"/>
              <a:cs typeface="Work Sans Light"/>
              <a:sym typeface="Work Sans Light"/>
            </a:endParaRPr>
          </a:p>
          <a:p>
            <a:pPr indent="0" lvl="0" marL="0" rtl="0" algn="l">
              <a:spcBef>
                <a:spcPts val="0"/>
              </a:spcBef>
              <a:spcAft>
                <a:spcPts val="0"/>
              </a:spcAft>
              <a:buClr>
                <a:schemeClr val="dk1"/>
              </a:buClr>
              <a:buSzPts val="1100"/>
              <a:buFont typeface="Arial"/>
              <a:buNone/>
            </a:pPr>
            <a:r>
              <a:rPr lang="es-MX" sz="1600">
                <a:solidFill>
                  <a:schemeClr val="dk1"/>
                </a:solidFill>
                <a:latin typeface="Work Sans Light"/>
                <a:ea typeface="Work Sans Light"/>
                <a:cs typeface="Work Sans Light"/>
                <a:sym typeface="Work Sans Light"/>
              </a:rPr>
              <a:t>proceso:</a:t>
            </a:r>
            <a:endParaRPr sz="1600">
              <a:solidFill>
                <a:schemeClr val="dk1"/>
              </a:solidFill>
              <a:latin typeface="Work Sans Light"/>
              <a:ea typeface="Work Sans Light"/>
              <a:cs typeface="Work Sans Light"/>
              <a:sym typeface="Work Sans Light"/>
            </a:endParaRPr>
          </a:p>
          <a:p>
            <a:pPr indent="-330200" lvl="0" marL="457200" marR="0" rtl="0" algn="l">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el procesos venta e inventario: el proceso del inventario consiste en registrar en un cuaderno en donde se registran los pedidos por clientes, en el cual se detallan: estilos, colores, tallas.</a:t>
            </a:r>
            <a:endParaRPr sz="1600">
              <a:solidFill>
                <a:schemeClr val="dk1"/>
              </a:solidFill>
              <a:latin typeface="Work Sans Light"/>
              <a:ea typeface="Work Sans Light"/>
              <a:cs typeface="Work Sans Light"/>
              <a:sym typeface="Work Sans Light"/>
            </a:endParaRPr>
          </a:p>
          <a:p>
            <a:pPr indent="0" lvl="0" marL="457200" marR="0" rtl="0" algn="l">
              <a:spcBef>
                <a:spcPts val="0"/>
              </a:spcBef>
              <a:spcAft>
                <a:spcPts val="0"/>
              </a:spcAft>
              <a:buNone/>
            </a:pPr>
            <a:r>
              <a:rPr lang="es-MX" sz="1600">
                <a:solidFill>
                  <a:schemeClr val="dk1"/>
                </a:solidFill>
                <a:latin typeface="Work Sans Light"/>
                <a:ea typeface="Work Sans Light"/>
                <a:cs typeface="Work Sans Light"/>
                <a:sym typeface="Work Sans Light"/>
              </a:rPr>
              <a:t>En el proceso de venta, se registra en un cuaderno de facturas, el total de la venta y el saldo pendiente, con el fin de saber los gastos de insumo y el saldo queda a favor. De esta manera, se concluye que es necesaria una optimización de los procesos de inventario y venta.</a:t>
            </a:r>
            <a:endParaRPr sz="1600">
              <a:solidFill>
                <a:schemeClr val="dk1"/>
              </a:solidFill>
              <a:latin typeface="Work Sans Light"/>
              <a:ea typeface="Work Sans Light"/>
              <a:cs typeface="Work Sans Light"/>
              <a:sym typeface="Work Sans Light"/>
            </a:endParaRPr>
          </a:p>
          <a:p>
            <a:pPr indent="-330200" lvl="0" marL="457200" marR="0" rtl="0" algn="l">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El proceso de pagos: el proceso de pagos se realiza mediante un pago en efectivo, una transferencia bancaria o una tranferencia de neobancos (nequi o daviplata). Aunque el método funciona, se concluye que es necesaria una optimización para lograr un mayor control e integración con los demás procesos.</a:t>
            </a:r>
            <a:endParaRPr sz="1600">
              <a:solidFill>
                <a:schemeClr val="dk1"/>
              </a:solidFill>
              <a:latin typeface="Work Sans Light"/>
              <a:ea typeface="Work Sans Light"/>
              <a:cs typeface="Work Sans Light"/>
              <a:sym typeface="Work Sans Light"/>
            </a:endParaRPr>
          </a:p>
          <a:p>
            <a:pPr indent="0" lvl="0" marL="0" marR="0" rtl="0" algn="l">
              <a:spcBef>
                <a:spcPts val="0"/>
              </a:spcBef>
              <a:spcAft>
                <a:spcPts val="0"/>
              </a:spcAft>
              <a:buClr>
                <a:schemeClr val="dk1"/>
              </a:buClr>
              <a:buSzPts val="1600"/>
              <a:buFont typeface="Arial"/>
              <a:buNone/>
            </a:pPr>
            <a:r>
              <a:t/>
            </a:r>
            <a:endParaRPr sz="1600">
              <a:solidFill>
                <a:schemeClr val="dk1"/>
              </a:solidFill>
              <a:latin typeface="Work Sans Light"/>
              <a:ea typeface="Work Sans Light"/>
              <a:cs typeface="Work Sans Light"/>
              <a:sym typeface="Work Sans Light"/>
            </a:endParaRPr>
          </a:p>
        </p:txBody>
      </p:sp>
      <p:pic>
        <p:nvPicPr>
          <p:cNvPr id="142" name="Google Shape;142;g36393dac501_0_0"/>
          <p:cNvPicPr preferRelativeResize="0"/>
          <p:nvPr/>
        </p:nvPicPr>
        <p:blipFill>
          <a:blip r:embed="rId8">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8">
            <a:alphaModFix/>
          </a:blip>
          <a:stretch>
            <a:fillRect/>
          </a:stretch>
        </p:blipFill>
        <p:spPr>
          <a:xfrm>
            <a:off x="9846091" y="351912"/>
            <a:ext cx="875109" cy="842700"/>
          </a:xfrm>
          <a:prstGeom prst="rect">
            <a:avLst/>
          </a:prstGeom>
          <a:noFill/>
          <a:ln>
            <a:noFill/>
          </a:ln>
        </p:spPr>
      </p:pic>
      <p:pic>
        <p:nvPicPr>
          <p:cNvPr id="144" name="Google Shape;144;g36393dac501_0_0"/>
          <p:cNvPicPr preferRelativeResize="0"/>
          <p:nvPr/>
        </p:nvPicPr>
        <p:blipFill>
          <a:blip r:embed="rId9">
            <a:alphaModFix/>
          </a:blip>
          <a:stretch>
            <a:fillRect/>
          </a:stretch>
        </p:blipFill>
        <p:spPr>
          <a:xfrm>
            <a:off x="7856550" y="164715"/>
            <a:ext cx="1521350" cy="121707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g36393dac501_3_0"/>
          <p:cNvSpPr/>
          <p:nvPr/>
        </p:nvSpPr>
        <p:spPr>
          <a:xfrm>
            <a:off x="1314043" y="1369915"/>
            <a:ext cx="3527400" cy="3471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 name="Google Shape;150;g36393dac501_3_0"/>
          <p:cNvSpPr txBox="1"/>
          <p:nvPr/>
        </p:nvSpPr>
        <p:spPr>
          <a:xfrm>
            <a:off x="1039259" y="1040536"/>
            <a:ext cx="4077000" cy="676500"/>
          </a:xfrm>
          <a:prstGeom prst="rect">
            <a:avLst/>
          </a:prstGeom>
          <a:noFill/>
          <a:ln>
            <a:noFill/>
          </a:ln>
        </p:spPr>
        <p:txBody>
          <a:bodyPr anchorCtr="0" anchor="t" bIns="45700" lIns="91425" spcFirstLastPara="1" rIns="91425" wrap="square" tIns="45700">
            <a:noAutofit/>
          </a:bodyPr>
          <a:lstStyle/>
          <a:p>
            <a:pPr indent="0" lvl="0" marL="0" marR="0" rtl="0" algn="ctr">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51" name="Google Shape;151;g36393dac501_3_0"/>
          <p:cNvSpPr txBox="1"/>
          <p:nvPr/>
        </p:nvSpPr>
        <p:spPr>
          <a:xfrm>
            <a:off x="1247943" y="2700940"/>
            <a:ext cx="5043000" cy="1816200"/>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None/>
            </a:pPr>
            <a:r>
              <a:rPr lang="es-MX" sz="1600">
                <a:solidFill>
                  <a:schemeClr val="dk1"/>
                </a:solidFill>
                <a:latin typeface="Work Sans Light"/>
                <a:ea typeface="Work Sans Light"/>
                <a:cs typeface="Work Sans Light"/>
                <a:sym typeface="Work Sans Light"/>
              </a:rPr>
              <a:t>Desarrollar e implementar un Sistema de Información Web </a:t>
            </a:r>
            <a:r>
              <a:rPr lang="es-MX" sz="1500">
                <a:solidFill>
                  <a:srgbClr val="0C0C0C"/>
                </a:solidFill>
                <a:latin typeface="Work Sans Light"/>
                <a:ea typeface="Work Sans Light"/>
                <a:cs typeface="Work Sans Light"/>
                <a:sym typeface="Work Sans Light"/>
              </a:rPr>
              <a:t>Lunaria</a:t>
            </a:r>
            <a:r>
              <a:rPr lang="es-MX" sz="1600">
                <a:solidFill>
                  <a:schemeClr val="dk1"/>
                </a:solidFill>
                <a:latin typeface="Work Sans Light"/>
                <a:ea typeface="Work Sans Light"/>
                <a:cs typeface="Work Sans Light"/>
                <a:sym typeface="Work Sans Light"/>
              </a:rPr>
              <a:t> para la gestión de productos, pedidos y promociones de la empresa Innovation Fusion, permitiendo a los usuarios navegar, seleccionar y adquirir productos de calzado y bolsos de forma intuitiva, segura y eficiente.</a:t>
            </a:r>
            <a:endParaRPr sz="1100">
              <a:solidFill>
                <a:schemeClr val="dk1"/>
              </a:solidFill>
            </a:endParaRPr>
          </a:p>
        </p:txBody>
      </p:sp>
      <p:pic>
        <p:nvPicPr>
          <p:cNvPr id="152" name="Google Shape;152;g36393dac501_3_0"/>
          <p:cNvPicPr preferRelativeResize="0"/>
          <p:nvPr/>
        </p:nvPicPr>
        <p:blipFill>
          <a:blip r:embed="rId3">
            <a:alphaModFix/>
          </a:blip>
          <a:stretch>
            <a:fillRect/>
          </a:stretch>
        </p:blipFill>
        <p:spPr>
          <a:xfrm>
            <a:off x="7214050" y="85125"/>
            <a:ext cx="5720524" cy="7153426"/>
          </a:xfrm>
          <a:prstGeom prst="rect">
            <a:avLst/>
          </a:prstGeom>
          <a:noFill/>
          <a:ln>
            <a:noFill/>
          </a:ln>
        </p:spPr>
      </p:pic>
      <p:pic>
        <p:nvPicPr>
          <p:cNvPr id="153" name="Google Shape;153;g36393dac501_3_0"/>
          <p:cNvPicPr preferRelativeResize="0"/>
          <p:nvPr/>
        </p:nvPicPr>
        <p:blipFill>
          <a:blip r:embed="rId4">
            <a:alphaModFix/>
          </a:blip>
          <a:stretch>
            <a:fillRect/>
          </a:stretch>
        </p:blipFill>
        <p:spPr>
          <a:xfrm>
            <a:off x="7214050" y="0"/>
            <a:ext cx="5720525" cy="70850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321750" y="934750"/>
            <a:ext cx="6947700" cy="6003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285750" lvl="0" marL="285750" marR="0" rtl="0" algn="l">
              <a:lnSpc>
                <a:spcPct val="100000"/>
              </a:lnSpc>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Gestionar los usuarios de la empresa Innovation Fusion, mediante funcionalidades de registro, inicio de sesión y recuperación de contraseña, garantizando seguridad, acceso controlado y facilidad de uso.</a:t>
            </a:r>
            <a:endParaRPr sz="1600">
              <a:solidFill>
                <a:schemeClr val="dk1"/>
              </a:solidFill>
              <a:latin typeface="Work Sans Light"/>
              <a:ea typeface="Work Sans Light"/>
              <a:cs typeface="Work Sans Light"/>
              <a:sym typeface="Work Sans Light"/>
            </a:endParaRPr>
          </a:p>
          <a:p>
            <a:pPr indent="0" lvl="0" marL="457200" marR="0" rtl="0" algn="l">
              <a:lnSpc>
                <a:spcPct val="100000"/>
              </a:lnSpc>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285750" lvl="0" marL="285750" marR="0" rtl="0" algn="l">
              <a:lnSpc>
                <a:spcPct val="100000"/>
              </a:lnSpc>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Gestionar los productos de la empresa Innovation Fusion, mediante el registro, actualización, consulta y eliminación de los mismos, asegurando un control eficiente de inventario y disponibilidad en el catálogo de la empresa.</a:t>
            </a:r>
            <a:endParaRPr sz="1600">
              <a:solidFill>
                <a:schemeClr val="dk1"/>
              </a:solidFill>
              <a:latin typeface="Work Sans Light"/>
              <a:ea typeface="Work Sans Light"/>
              <a:cs typeface="Work Sans Light"/>
              <a:sym typeface="Work Sans Light"/>
            </a:endParaRPr>
          </a:p>
          <a:p>
            <a:pPr indent="0" lvl="0" marL="457200" marR="0" rtl="0" algn="l">
              <a:lnSpc>
                <a:spcPct val="100000"/>
              </a:lnSpc>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285750" lvl="0" marL="285750" marR="0" rtl="0" algn="l">
              <a:lnSpc>
                <a:spcPct val="100000"/>
              </a:lnSpc>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Gestionar las ventas de la empresa Innovation Fusion, mediante la generación de tickets y control de pedidos, con el fin de optimizar el proceso de comercialización y brindar trazabilidad a las transacciones.</a:t>
            </a:r>
            <a:endParaRPr sz="1600">
              <a:solidFill>
                <a:schemeClr val="dk1"/>
              </a:solidFill>
              <a:latin typeface="Work Sans Light"/>
              <a:ea typeface="Work Sans Light"/>
              <a:cs typeface="Work Sans Light"/>
              <a:sym typeface="Work Sans Light"/>
            </a:endParaRPr>
          </a:p>
          <a:p>
            <a:pPr indent="0" lvl="0" marL="457200" marR="0" rtl="0" algn="l">
              <a:lnSpc>
                <a:spcPct val="100000"/>
              </a:lnSpc>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285750" lvl="0" marL="285750" marR="0" rtl="0" algn="l">
              <a:lnSpc>
                <a:spcPct val="100000"/>
              </a:lnSpc>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Gestionar el proceso de pago en Innovation Fusion, incorporando múltiples métodos de pago, validaciones y una experiencia de compra fluida y segura.</a:t>
            </a:r>
            <a:br>
              <a:rPr lang="es-MX" sz="1600">
                <a:solidFill>
                  <a:schemeClr val="dk1"/>
                </a:solidFill>
                <a:latin typeface="Work Sans Light"/>
                <a:ea typeface="Work Sans Light"/>
                <a:cs typeface="Work Sans Light"/>
                <a:sym typeface="Work Sans Light"/>
              </a:rPr>
            </a:br>
            <a:endParaRPr sz="1600">
              <a:solidFill>
                <a:schemeClr val="dk1"/>
              </a:solidFill>
              <a:latin typeface="Work Sans Light"/>
              <a:ea typeface="Work Sans Light"/>
              <a:cs typeface="Work Sans Light"/>
              <a:sym typeface="Work Sans Light"/>
            </a:endParaRPr>
          </a:p>
          <a:p>
            <a:pPr indent="-285750" lvl="0" marL="285750" marR="0" rtl="0" algn="l">
              <a:lnSpc>
                <a:spcPct val="100000"/>
              </a:lnSpc>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Gestionar las promociones y descuentos ofrecidos por Innovation Fusion, facilitando su administración por parte del personal y generando incentivos para compras repetidas y captación de nuevos clientes.</a:t>
            </a:r>
            <a:endParaRPr sz="1600">
              <a:solidFill>
                <a:schemeClr val="dk1"/>
              </a:solidFill>
              <a:latin typeface="Work Sans Light"/>
              <a:ea typeface="Work Sans Light"/>
              <a:cs typeface="Work Sans Light"/>
              <a:sym typeface="Work Sans Light"/>
            </a:endParaRP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g36393dac501_4_0"/>
          <p:cNvSpPr txBox="1"/>
          <p:nvPr>
            <p:ph type="title"/>
          </p:nvPr>
        </p:nvSpPr>
        <p:spPr>
          <a:xfrm>
            <a:off x="456236" y="110481"/>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68" name="Google Shape;168;g36393dac501_4_0"/>
          <p:cNvSpPr txBox="1"/>
          <p:nvPr/>
        </p:nvSpPr>
        <p:spPr>
          <a:xfrm>
            <a:off x="372353" y="1667521"/>
            <a:ext cx="11447400" cy="50025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lang="es-MX" sz="1600">
                <a:solidFill>
                  <a:schemeClr val="dk1"/>
                </a:solidFill>
                <a:latin typeface="Work Sans Light"/>
                <a:ea typeface="Work Sans Light"/>
                <a:cs typeface="Work Sans Light"/>
                <a:sym typeface="Work Sans Light"/>
              </a:rPr>
              <a:t>Se propone el desarrollo de un Sistema de Información Web denominado </a:t>
            </a:r>
            <a:r>
              <a:rPr lang="es-MX" sz="1500">
                <a:solidFill>
                  <a:srgbClr val="0C0C0C"/>
                </a:solidFill>
                <a:latin typeface="Work Sans Light"/>
                <a:ea typeface="Work Sans Light"/>
                <a:cs typeface="Work Sans Light"/>
                <a:sym typeface="Work Sans Light"/>
              </a:rPr>
              <a:t>Lunaria</a:t>
            </a:r>
            <a:r>
              <a:rPr lang="es-MX" sz="1600">
                <a:solidFill>
                  <a:schemeClr val="dk1"/>
                </a:solidFill>
                <a:latin typeface="Work Sans Light"/>
                <a:ea typeface="Work Sans Light"/>
                <a:cs typeface="Work Sans Light"/>
                <a:sym typeface="Work Sans Light"/>
              </a:rPr>
              <a:t> que sirva como herramienta software de apoyo al seguimiento de los procesos de la comercialización del producto, y el proceso de la facturación manual de la Empresa Innovation Fusion.</a:t>
            </a:r>
            <a:endParaRPr sz="1600">
              <a:solidFill>
                <a:schemeClr val="dk1"/>
              </a:solidFill>
              <a:latin typeface="Work Sans Light"/>
              <a:ea typeface="Work Sans Light"/>
              <a:cs typeface="Work Sans Light"/>
              <a:sym typeface="Work Sans Light"/>
            </a:endParaRPr>
          </a:p>
          <a:p>
            <a:pPr indent="0" lvl="0" marL="457200" marR="0" rtl="0" algn="l">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0" lvl="0" marL="0" rtl="0" algn="l">
              <a:spcBef>
                <a:spcPts val="0"/>
              </a:spcBef>
              <a:spcAft>
                <a:spcPts val="0"/>
              </a:spcAft>
              <a:buNone/>
            </a:pPr>
            <a:r>
              <a:rPr lang="es-MX" sz="1600">
                <a:solidFill>
                  <a:schemeClr val="dk1"/>
                </a:solidFill>
                <a:latin typeface="Work Sans Light"/>
                <a:ea typeface="Work Sans Light"/>
                <a:cs typeface="Work Sans Light"/>
                <a:sym typeface="Work Sans Light"/>
              </a:rPr>
              <a:t>La importancia del Sistema: Permitirá la gestión de los compradores y los Administradores como usuarios de la Empresa Innovation Fusion. En el Modulo de catalogo de productos los compradores y administradores podrán gestionar el catálogo. </a:t>
            </a:r>
            <a:endParaRPr sz="1600">
              <a:solidFill>
                <a:schemeClr val="dk1"/>
              </a:solidFill>
              <a:latin typeface="Work Sans Light"/>
              <a:ea typeface="Work Sans Light"/>
              <a:cs typeface="Work Sans Light"/>
              <a:sym typeface="Work Sans Light"/>
            </a:endParaRPr>
          </a:p>
          <a:p>
            <a:pPr indent="0" lvl="0" marL="0" rtl="0" algn="l">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361950" lvl="0" marL="457200" rtl="0" algn="l">
              <a:spcBef>
                <a:spcPts val="0"/>
              </a:spcBef>
              <a:spcAft>
                <a:spcPts val="0"/>
              </a:spcAft>
              <a:buClr>
                <a:schemeClr val="dk1"/>
              </a:buClr>
              <a:buSzPts val="2100"/>
              <a:buFont typeface="Work Sans Light"/>
              <a:buChar char="●"/>
            </a:pPr>
            <a:r>
              <a:rPr b="1" lang="es-MX" sz="1600">
                <a:solidFill>
                  <a:schemeClr val="dk1"/>
                </a:solidFill>
                <a:latin typeface="Work Sans"/>
                <a:ea typeface="Work Sans"/>
                <a:cs typeface="Work Sans"/>
                <a:sym typeface="Work Sans"/>
              </a:rPr>
              <a:t>Módulo de gestión de usuarios:</a:t>
            </a:r>
            <a:br>
              <a:rPr b="1" lang="es-MX" sz="1600">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Compradores y administradores podrán: editar la información de los usuarios y agregar administradores</a:t>
            </a:r>
            <a:endParaRPr sz="1600">
              <a:solidFill>
                <a:schemeClr val="dk1"/>
              </a:solidFill>
              <a:latin typeface="Work Sans Light"/>
              <a:ea typeface="Work Sans Light"/>
              <a:cs typeface="Work Sans Light"/>
              <a:sym typeface="Work Sans Light"/>
            </a:endParaRPr>
          </a:p>
          <a:p>
            <a:pPr indent="-361950" lvl="0" marL="457200" rtl="0" algn="l">
              <a:spcBef>
                <a:spcPts val="0"/>
              </a:spcBef>
              <a:spcAft>
                <a:spcPts val="0"/>
              </a:spcAft>
              <a:buClr>
                <a:schemeClr val="dk1"/>
              </a:buClr>
              <a:buSzPts val="2100"/>
              <a:buFont typeface="Work Sans Light"/>
              <a:buChar char="●"/>
            </a:pPr>
            <a:r>
              <a:rPr b="1" lang="es-MX" sz="1600">
                <a:solidFill>
                  <a:schemeClr val="dk1"/>
                </a:solidFill>
                <a:latin typeface="Work Sans"/>
                <a:ea typeface="Work Sans"/>
                <a:cs typeface="Work Sans"/>
                <a:sym typeface="Work Sans"/>
              </a:rPr>
              <a:t>Módulo de gestión de compras:</a:t>
            </a:r>
            <a:br>
              <a:rPr b="1" lang="es-MX" sz="1600">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Compradores y administradores podrán: manejar el carrito de compras y podrán ponerle a un producto promociones.</a:t>
            </a:r>
            <a:endParaRPr sz="1600">
              <a:solidFill>
                <a:schemeClr val="dk1"/>
              </a:solidFill>
              <a:latin typeface="Work Sans Light"/>
              <a:ea typeface="Work Sans Light"/>
              <a:cs typeface="Work Sans Light"/>
              <a:sym typeface="Work Sans Light"/>
            </a:endParaRPr>
          </a:p>
          <a:p>
            <a:pPr indent="-361950" lvl="0" marL="457200" rtl="0" algn="l">
              <a:spcBef>
                <a:spcPts val="0"/>
              </a:spcBef>
              <a:spcAft>
                <a:spcPts val="0"/>
              </a:spcAft>
              <a:buClr>
                <a:schemeClr val="dk1"/>
              </a:buClr>
              <a:buSzPts val="2100"/>
              <a:buFont typeface="Work Sans Light"/>
              <a:buChar char="●"/>
            </a:pPr>
            <a:r>
              <a:rPr b="1" lang="es-MX" sz="1600">
                <a:solidFill>
                  <a:schemeClr val="dk1"/>
                </a:solidFill>
                <a:latin typeface="Work Sans"/>
                <a:ea typeface="Work Sans"/>
                <a:cs typeface="Work Sans"/>
                <a:sym typeface="Work Sans"/>
              </a:rPr>
              <a:t>Módulo de gestión de pedidos:</a:t>
            </a:r>
            <a:br>
              <a:rPr b="1" lang="es-MX" sz="1600">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Compradores y administradores  podrán: tener la posibilidad de consultar sus pedidos y actualizarlos según sea necesario.</a:t>
            </a:r>
            <a:endParaRPr sz="1600">
              <a:solidFill>
                <a:schemeClr val="dk1"/>
              </a:solidFill>
              <a:latin typeface="Work Sans Light"/>
              <a:ea typeface="Work Sans Light"/>
              <a:cs typeface="Work Sans Light"/>
              <a:sym typeface="Work Sans Light"/>
            </a:endParaRPr>
          </a:p>
          <a:p>
            <a:pPr indent="0" lvl="0" marL="457200" rtl="0" algn="l">
              <a:spcBef>
                <a:spcPts val="0"/>
              </a:spcBef>
              <a:spcAft>
                <a:spcPts val="0"/>
              </a:spcAft>
              <a:buNone/>
            </a:pPr>
            <a:r>
              <a:t/>
            </a:r>
            <a:endParaRPr sz="1600">
              <a:solidFill>
                <a:schemeClr val="dk1"/>
              </a:solidFill>
              <a:latin typeface="Work Sans"/>
              <a:ea typeface="Work Sans"/>
              <a:cs typeface="Work Sans"/>
              <a:sym typeface="Work Sans"/>
            </a:endParaRPr>
          </a:p>
          <a:p>
            <a:pPr indent="0" lvl="0" marL="0" rtl="0" algn="l">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0" lvl="0" marL="0" marR="0" rtl="0" algn="l">
              <a:spcBef>
                <a:spcPts val="0"/>
              </a:spcBef>
              <a:spcAft>
                <a:spcPts val="0"/>
              </a:spcAft>
              <a:buClr>
                <a:schemeClr val="dk1"/>
              </a:buClr>
              <a:buSzPts val="1600"/>
              <a:buFont typeface="Arial"/>
              <a:buNone/>
            </a:pPr>
            <a:r>
              <a:t/>
            </a:r>
            <a:endParaRPr b="1" sz="1600">
              <a:solidFill>
                <a:schemeClr val="dk1"/>
              </a:solidFill>
              <a:latin typeface="Work Sans Light"/>
              <a:ea typeface="Work Sans Light"/>
              <a:cs typeface="Work Sans Light"/>
              <a:sym typeface="Work Sans Light"/>
            </a:endParaRPr>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1" name="Google Shape;171;g36393dac501_4_0" title="Imagen_de_WhatsApp_2025-07-31_a_las_13.28.26_244e58d2-removebg-preview (1).png"/>
          <p:cNvPicPr preferRelativeResize="0"/>
          <p:nvPr/>
        </p:nvPicPr>
        <p:blipFill>
          <a:blip r:embed="rId4">
            <a:alphaModFix/>
          </a:blip>
          <a:stretch>
            <a:fillRect/>
          </a:stretch>
        </p:blipFill>
        <p:spPr>
          <a:xfrm>
            <a:off x="8050550" y="-4800"/>
            <a:ext cx="1556100" cy="1556100"/>
          </a:xfrm>
          <a:prstGeom prst="rect">
            <a:avLst/>
          </a:prstGeom>
          <a:noFill/>
          <a:ln>
            <a:noFill/>
          </a:ln>
        </p:spPr>
      </p:pic>
      <p:pic>
        <p:nvPicPr>
          <p:cNvPr id="172" name="Google Shape;172;g36393dac501_4_0"/>
          <p:cNvPicPr preferRelativeResize="0"/>
          <p:nvPr/>
        </p:nvPicPr>
        <p:blipFill>
          <a:blip r:embed="rId5">
            <a:alphaModFix/>
          </a:blip>
          <a:stretch>
            <a:fillRect/>
          </a:stretch>
        </p:blipFill>
        <p:spPr>
          <a:xfrm>
            <a:off x="7856550" y="164715"/>
            <a:ext cx="1521350" cy="121707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9"/>
          <p:cNvSpPr txBox="1"/>
          <p:nvPr/>
        </p:nvSpPr>
        <p:spPr>
          <a:xfrm>
            <a:off x="456236" y="457723"/>
            <a:ext cx="10515600" cy="676598"/>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Justificación</a:t>
            </a:r>
            <a:endParaRPr/>
          </a:p>
        </p:txBody>
      </p:sp>
      <p:sp>
        <p:nvSpPr>
          <p:cNvPr id="178" name="Google Shape;178;p9"/>
          <p:cNvSpPr txBox="1"/>
          <p:nvPr/>
        </p:nvSpPr>
        <p:spPr>
          <a:xfrm>
            <a:off x="372353" y="1667521"/>
            <a:ext cx="11447400" cy="4316100"/>
          </a:xfrm>
          <a:prstGeom prst="rect">
            <a:avLst/>
          </a:prstGeom>
          <a:noFill/>
          <a:ln>
            <a:noFill/>
          </a:ln>
        </p:spPr>
        <p:txBody>
          <a:bodyPr anchorCtr="0" anchor="t" bIns="45700" lIns="91425" spcFirstLastPara="1" rIns="91425" wrap="square" tIns="45700">
            <a:spAutoFit/>
          </a:bodyPr>
          <a:lstStyle/>
          <a:p>
            <a:pPr indent="-330200" lvl="0" marL="457200" rtl="0" algn="l">
              <a:spcBef>
                <a:spcPts val="0"/>
              </a:spcBef>
              <a:spcAft>
                <a:spcPts val="0"/>
              </a:spcAft>
              <a:buClr>
                <a:schemeClr val="dk1"/>
              </a:buClr>
              <a:buSzPts val="1600"/>
              <a:buFont typeface="Work Sans Light"/>
              <a:buChar char="●"/>
            </a:pPr>
            <a:r>
              <a:rPr b="1" lang="es-MX" sz="1600">
                <a:solidFill>
                  <a:schemeClr val="dk1"/>
                </a:solidFill>
                <a:latin typeface="Work Sans"/>
                <a:ea typeface="Work Sans"/>
                <a:cs typeface="Work Sans"/>
                <a:sym typeface="Work Sans"/>
              </a:rPr>
              <a:t>Módulo de administrador:</a:t>
            </a:r>
            <a:br>
              <a:rPr b="1" lang="es-MX" sz="1600">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los administradores podrán: gestionar el inventario de productos, incluyendo la visibilidad y actualización de los datos de cada artículo.</a:t>
            </a:r>
            <a:endParaRPr sz="1600">
              <a:solidFill>
                <a:schemeClr val="dk1"/>
              </a:solidFill>
              <a:latin typeface="Work Sans Light"/>
              <a:ea typeface="Work Sans Light"/>
              <a:cs typeface="Work Sans Light"/>
              <a:sym typeface="Work Sans Light"/>
            </a:endParaRPr>
          </a:p>
          <a:p>
            <a:pPr indent="-330200" lvl="0" marL="457200" rtl="0" algn="l">
              <a:spcBef>
                <a:spcPts val="0"/>
              </a:spcBef>
              <a:spcAft>
                <a:spcPts val="0"/>
              </a:spcAft>
              <a:buClr>
                <a:schemeClr val="dk1"/>
              </a:buClr>
              <a:buSzPts val="1600"/>
              <a:buFont typeface="Work Sans Light"/>
              <a:buChar char="●"/>
            </a:pPr>
            <a:r>
              <a:rPr b="1" lang="es-MX" sz="1600">
                <a:solidFill>
                  <a:schemeClr val="dk1"/>
                </a:solidFill>
                <a:latin typeface="Work Sans"/>
                <a:ea typeface="Work Sans"/>
                <a:cs typeface="Work Sans"/>
                <a:sym typeface="Work Sans"/>
              </a:rPr>
              <a:t>Módulo de promociones y descuentos:</a:t>
            </a:r>
            <a:br>
              <a:rPr b="1" lang="es-MX" sz="1600">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Compradores y administradores podrán: usar las promociones disponibles, gestionar las colecciones y descuentos</a:t>
            </a:r>
            <a:r>
              <a:rPr lang="es-MX" sz="1600">
                <a:solidFill>
                  <a:schemeClr val="dk1"/>
                </a:solidFill>
                <a:latin typeface="Work Sans"/>
                <a:ea typeface="Work Sans"/>
                <a:cs typeface="Work Sans"/>
                <a:sym typeface="Work Sans"/>
              </a:rPr>
              <a:t>.</a:t>
            </a:r>
            <a:endParaRPr b="1" sz="1600">
              <a:solidFill>
                <a:schemeClr val="dk1"/>
              </a:solidFill>
              <a:latin typeface="Work Sans"/>
              <a:ea typeface="Work Sans"/>
              <a:cs typeface="Work Sans"/>
              <a:sym typeface="Work Sans"/>
            </a:endParaRPr>
          </a:p>
          <a:p>
            <a:pPr indent="-330200" lvl="0" marL="457200" rtl="0" algn="l">
              <a:lnSpc>
                <a:spcPct val="115000"/>
              </a:lnSpc>
              <a:spcBef>
                <a:spcPts val="0"/>
              </a:spcBef>
              <a:spcAft>
                <a:spcPts val="0"/>
              </a:spcAft>
              <a:buClr>
                <a:schemeClr val="dk1"/>
              </a:buClr>
              <a:buSzPts val="1600"/>
              <a:buChar char="●"/>
            </a:pPr>
            <a:r>
              <a:rPr b="1" lang="es-MX" sz="1600">
                <a:solidFill>
                  <a:schemeClr val="dk1"/>
                </a:solidFill>
                <a:latin typeface="Work Sans"/>
                <a:ea typeface="Work Sans"/>
                <a:cs typeface="Work Sans"/>
                <a:sym typeface="Work Sans"/>
              </a:rPr>
              <a:t>Módulo de notificaciones y soporte:</a:t>
            </a:r>
            <a:br>
              <a:rPr b="1" lang="es-MX" sz="1600">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Compradores podrán: acceder a soporte mediante chat y los administradores serán responsables de gestionar las solicitudes de ayuda y brindar respuestas.</a:t>
            </a:r>
            <a:endParaRPr sz="1600">
              <a:solidFill>
                <a:schemeClr val="dk1"/>
              </a:solidFill>
              <a:latin typeface="Work Sans Light"/>
              <a:ea typeface="Work Sans Light"/>
              <a:cs typeface="Work Sans Light"/>
              <a:sym typeface="Work Sans Light"/>
            </a:endParaRPr>
          </a:p>
          <a:p>
            <a:pPr indent="-330200" lvl="0" marL="457200" rtl="0" algn="l">
              <a:lnSpc>
                <a:spcPct val="115000"/>
              </a:lnSpc>
              <a:spcBef>
                <a:spcPts val="0"/>
              </a:spcBef>
              <a:spcAft>
                <a:spcPts val="0"/>
              </a:spcAft>
              <a:buClr>
                <a:schemeClr val="dk1"/>
              </a:buClr>
              <a:buSzPts val="1600"/>
              <a:buChar char="●"/>
            </a:pPr>
            <a:r>
              <a:rPr b="1" lang="es-MX" sz="1600">
                <a:solidFill>
                  <a:schemeClr val="dk1"/>
                </a:solidFill>
                <a:latin typeface="Work Sans"/>
                <a:ea typeface="Work Sans"/>
                <a:cs typeface="Work Sans"/>
                <a:sym typeface="Work Sans"/>
              </a:rPr>
              <a:t>Reportes y estadísticas:</a:t>
            </a:r>
            <a:br>
              <a:rPr b="1" lang="es-MX" sz="1600">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El sistema permitirá a los administradores generar reportes gráficos e impresos, útiles para la toma de decisiones estratégicas</a:t>
            </a:r>
            <a:r>
              <a:rPr lang="es-MX" sz="1600">
                <a:solidFill>
                  <a:schemeClr val="dk1"/>
                </a:solidFill>
                <a:latin typeface="Work Sans Light"/>
                <a:ea typeface="Work Sans Light"/>
                <a:cs typeface="Work Sans Light"/>
                <a:sym typeface="Work Sans Light"/>
              </a:rPr>
              <a:t>.</a:t>
            </a:r>
            <a:endParaRPr sz="1600">
              <a:solidFill>
                <a:schemeClr val="dk1"/>
              </a:solidFill>
              <a:latin typeface="Work Sans Light"/>
              <a:ea typeface="Work Sans Light"/>
              <a:cs typeface="Work Sans Light"/>
              <a:sym typeface="Work Sans Light"/>
            </a:endParaRPr>
          </a:p>
          <a:p>
            <a:pPr indent="0" lvl="0" marL="0" rtl="0" algn="l">
              <a:spcBef>
                <a:spcPts val="1200"/>
              </a:spcBef>
              <a:spcAft>
                <a:spcPts val="0"/>
              </a:spcAft>
              <a:buNone/>
            </a:pPr>
            <a:r>
              <a:t/>
            </a:r>
            <a:endParaRPr sz="1600">
              <a:solidFill>
                <a:schemeClr val="dk1"/>
              </a:solidFill>
              <a:latin typeface="Work Sans Light"/>
              <a:ea typeface="Work Sans Light"/>
              <a:cs typeface="Work Sans Light"/>
              <a:sym typeface="Work Sans Light"/>
            </a:endParaRPr>
          </a:p>
          <a:p>
            <a:pPr indent="0" lvl="0" marL="0" rtl="0" algn="l">
              <a:spcBef>
                <a:spcPts val="0"/>
              </a:spcBef>
              <a:spcAft>
                <a:spcPts val="0"/>
              </a:spcAft>
              <a:buNone/>
            </a:pPr>
            <a:r>
              <a:t/>
            </a:r>
            <a:endParaRPr sz="1600">
              <a:solidFill>
                <a:schemeClr val="dk1"/>
              </a:solidFill>
              <a:latin typeface="Work Sans Light"/>
              <a:ea typeface="Work Sans Light"/>
              <a:cs typeface="Work Sans Light"/>
              <a:sym typeface="Work Sans Light"/>
            </a:endParaRPr>
          </a:p>
          <a:p>
            <a:pPr indent="0" lvl="0" marL="0" rtl="0" algn="l">
              <a:lnSpc>
                <a:spcPct val="115000"/>
              </a:lnSpc>
              <a:spcBef>
                <a:spcPts val="1200"/>
              </a:spcBef>
              <a:spcAft>
                <a:spcPts val="1200"/>
              </a:spcAft>
              <a:buClr>
                <a:schemeClr val="dk1"/>
              </a:buClr>
              <a:buSzPts val="1100"/>
              <a:buFont typeface="Arial"/>
              <a:buNone/>
            </a:pPr>
            <a:r>
              <a:t/>
            </a:r>
            <a:endParaRPr sz="1600">
              <a:solidFill>
                <a:schemeClr val="dk1"/>
              </a:solidFill>
              <a:latin typeface="Work Sans Light"/>
              <a:ea typeface="Work Sans Light"/>
              <a:cs typeface="Work Sans Light"/>
              <a:sym typeface="Work Sans Light"/>
            </a:endParaRPr>
          </a:p>
        </p:txBody>
      </p:sp>
      <p:pic>
        <p:nvPicPr>
          <p:cNvPr id="179" name="Google Shape;179;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0" name="Google Shape;180;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1" name="Google Shape;181;p9" title="Imagen_de_WhatsApp_2025-07-31_a_las_13.28.26_244e58d2-removebg-preview (1).png"/>
          <p:cNvPicPr preferRelativeResize="0"/>
          <p:nvPr/>
        </p:nvPicPr>
        <p:blipFill>
          <a:blip r:embed="rId4">
            <a:alphaModFix/>
          </a:blip>
          <a:stretch>
            <a:fillRect/>
          </a:stretch>
        </p:blipFill>
        <p:spPr>
          <a:xfrm>
            <a:off x="8050550" y="-4800"/>
            <a:ext cx="1556100" cy="1556100"/>
          </a:xfrm>
          <a:prstGeom prst="rect">
            <a:avLst/>
          </a:prstGeom>
          <a:noFill/>
          <a:ln>
            <a:noFill/>
          </a:ln>
        </p:spPr>
      </p:pic>
      <p:pic>
        <p:nvPicPr>
          <p:cNvPr id="182" name="Google Shape;182;p9"/>
          <p:cNvPicPr preferRelativeResize="0"/>
          <p:nvPr/>
        </p:nvPicPr>
        <p:blipFill>
          <a:blip r:embed="rId5">
            <a:alphaModFix/>
          </a:blip>
          <a:stretch>
            <a:fillRect/>
          </a:stretch>
        </p:blipFill>
        <p:spPr>
          <a:xfrm>
            <a:off x="7856550" y="164715"/>
            <a:ext cx="1521350" cy="12170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10"/>
          <p:cNvSpPr txBox="1"/>
          <p:nvPr>
            <p:ph type="title"/>
          </p:nvPr>
        </p:nvSpPr>
        <p:spPr>
          <a:xfrm>
            <a:off x="456236" y="110481"/>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8" name="Google Shape;188;p10"/>
          <p:cNvSpPr txBox="1"/>
          <p:nvPr/>
        </p:nvSpPr>
        <p:spPr>
          <a:xfrm>
            <a:off x="3149325" y="1890313"/>
            <a:ext cx="8737200" cy="1816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s-MX" sz="1600">
                <a:solidFill>
                  <a:schemeClr val="dk1"/>
                </a:solidFill>
                <a:latin typeface="Work Sans Light"/>
                <a:ea typeface="Work Sans Light"/>
                <a:cs typeface="Work Sans Light"/>
                <a:sym typeface="Work Sans Light"/>
              </a:rPr>
              <a:t>Usuarios del sistema podrán iniciar sesión, administrar su perfil, ver catálogo de productos organizado por filtros de búsqueda, agregar estos al carrito o a favoritos, una vez se tengan productos en el carrito de compras podrán seleccionar los productos a comprar, posterior a esto el cliente facilitará al aplicativo su método de pago, y lugar de envío. Una vez el cliente haya recibido su producto podrá valorar este en una escala de 5 estrellas y dejar una breve descripción de su experiencia. La empresa no realiza facturacion por la DIAN genera un ticket o comprobante de venta </a:t>
            </a:r>
            <a:endParaRPr sz="1600">
              <a:solidFill>
                <a:schemeClr val="dk1"/>
              </a:solidFill>
              <a:latin typeface="Work Sans Light"/>
              <a:ea typeface="Work Sans Light"/>
              <a:cs typeface="Work Sans Light"/>
              <a:sym typeface="Work Sans Light"/>
            </a:endParaRPr>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0" name="Google Shape;190;p10"/>
          <p:cNvPicPr preferRelativeResize="0"/>
          <p:nvPr/>
        </p:nvPicPr>
        <p:blipFill>
          <a:blip r:embed="rId4">
            <a:alphaModFix/>
          </a:blip>
          <a:stretch>
            <a:fillRect/>
          </a:stretch>
        </p:blipFill>
        <p:spPr>
          <a:xfrm>
            <a:off x="405700" y="1541549"/>
            <a:ext cx="2267425" cy="2267425"/>
          </a:xfrm>
          <a:prstGeom prst="rect">
            <a:avLst/>
          </a:prstGeom>
          <a:noFill/>
          <a:ln>
            <a:noFill/>
          </a:ln>
        </p:spPr>
      </p:pic>
      <p:sp>
        <p:nvSpPr>
          <p:cNvPr id="191" name="Google Shape;191;p10"/>
          <p:cNvSpPr txBox="1"/>
          <p:nvPr/>
        </p:nvSpPr>
        <p:spPr>
          <a:xfrm>
            <a:off x="280825" y="4620450"/>
            <a:ext cx="8737200" cy="107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s-MX" sz="1600">
                <a:solidFill>
                  <a:schemeClr val="dk1"/>
                </a:solidFill>
                <a:latin typeface="Work Sans Light"/>
                <a:ea typeface="Work Sans Light"/>
                <a:cs typeface="Work Sans Light"/>
                <a:sym typeface="Work Sans Light"/>
              </a:rPr>
              <a:t>Administrador(es) del sistema</a:t>
            </a:r>
            <a:r>
              <a:rPr lang="es-MX" sz="1600">
                <a:solidFill>
                  <a:schemeClr val="dk1"/>
                </a:solidFill>
                <a:latin typeface="Work Sans Light"/>
                <a:ea typeface="Work Sans Light"/>
                <a:cs typeface="Work Sans Light"/>
                <a:sym typeface="Work Sans Light"/>
              </a:rPr>
              <a:t> </a:t>
            </a:r>
            <a:r>
              <a:rPr lang="es-MX" sz="1600">
                <a:solidFill>
                  <a:schemeClr val="dk1"/>
                </a:solidFill>
                <a:latin typeface="Work Sans Light"/>
                <a:ea typeface="Work Sans Light"/>
                <a:cs typeface="Work Sans Light"/>
                <a:sym typeface="Work Sans Light"/>
              </a:rPr>
              <a:t>podrán</a:t>
            </a:r>
            <a:r>
              <a:rPr lang="es-MX" sz="1600">
                <a:solidFill>
                  <a:schemeClr val="dk1"/>
                </a:solidFill>
                <a:latin typeface="Work Sans Light"/>
                <a:ea typeface="Work Sans Light"/>
                <a:cs typeface="Work Sans Light"/>
                <a:sym typeface="Work Sans Light"/>
              </a:rPr>
              <a:t> iniciar sesión, administrar la visibilidad de productos según su stock, gestionar los datos de estos como el precio, descripción, entre otros. Además podrán eliminar valoraciones de productos que infrinjan las normas de protección al usuario.</a:t>
            </a:r>
            <a:endParaRPr/>
          </a:p>
        </p:txBody>
      </p:sp>
      <p:pic>
        <p:nvPicPr>
          <p:cNvPr id="192" name="Google Shape;192;p10"/>
          <p:cNvPicPr preferRelativeResize="0"/>
          <p:nvPr/>
        </p:nvPicPr>
        <p:blipFill>
          <a:blip r:embed="rId5">
            <a:alphaModFix/>
          </a:blip>
          <a:stretch>
            <a:fillRect/>
          </a:stretch>
        </p:blipFill>
        <p:spPr>
          <a:xfrm>
            <a:off x="9339200" y="3864301"/>
            <a:ext cx="2397175" cy="2397175"/>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4" name="Google Shape;194;p10" title="Imagen_de_WhatsApp_2025-07-31_a_las_13.28.26_244e58d2-removebg-preview (1).png"/>
          <p:cNvPicPr preferRelativeResize="0"/>
          <p:nvPr/>
        </p:nvPicPr>
        <p:blipFill>
          <a:blip r:embed="rId6">
            <a:alphaModFix/>
          </a:blip>
          <a:stretch>
            <a:fillRect/>
          </a:stretch>
        </p:blipFill>
        <p:spPr>
          <a:xfrm>
            <a:off x="8050550" y="-4800"/>
            <a:ext cx="1556100" cy="1556100"/>
          </a:xfrm>
          <a:prstGeom prst="rect">
            <a:avLst/>
          </a:prstGeom>
          <a:noFill/>
          <a:ln>
            <a:noFill/>
          </a:ln>
        </p:spPr>
      </p:pic>
      <p:pic>
        <p:nvPicPr>
          <p:cNvPr id="195" name="Google Shape;195;p10"/>
          <p:cNvPicPr preferRelativeResize="0"/>
          <p:nvPr/>
        </p:nvPicPr>
        <p:blipFill>
          <a:blip r:embed="rId7">
            <a:alphaModFix/>
          </a:blip>
          <a:stretch>
            <a:fillRect/>
          </a:stretch>
        </p:blipFill>
        <p:spPr>
          <a:xfrm>
            <a:off x="7856550" y="164715"/>
            <a:ext cx="1521350" cy="121707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11"/>
          <p:cNvSpPr txBox="1"/>
          <p:nvPr/>
        </p:nvSpPr>
        <p:spPr>
          <a:xfrm>
            <a:off x="456236" y="434948"/>
            <a:ext cx="105156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Alcance</a:t>
            </a:r>
            <a:endParaRPr/>
          </a:p>
        </p:txBody>
      </p:sp>
      <p:sp>
        <p:nvSpPr>
          <p:cNvPr id="201" name="Google Shape;201;p11"/>
          <p:cNvSpPr txBox="1"/>
          <p:nvPr/>
        </p:nvSpPr>
        <p:spPr>
          <a:xfrm>
            <a:off x="4012450" y="1882675"/>
            <a:ext cx="7292400" cy="107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s-MX" sz="1600">
                <a:solidFill>
                  <a:schemeClr val="dk1"/>
                </a:solidFill>
                <a:latin typeface="Work Sans Light"/>
                <a:ea typeface="Work Sans Light"/>
                <a:cs typeface="Work Sans Light"/>
                <a:sym typeface="Work Sans Light"/>
              </a:rPr>
              <a:t>El sistema no envía los productos al cliente, el sistema es un intermediario entre el cliente y la empresa para que este pueda adquirir los productos de esta respectivamente. Los envíos son responsabilidad de Innovation Fusion y la empresa de envíos.</a:t>
            </a:r>
            <a:endParaRPr/>
          </a:p>
        </p:txBody>
      </p:sp>
      <p:pic>
        <p:nvPicPr>
          <p:cNvPr id="202" name="Google Shape;202;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3" name="Google Shape;203;p11"/>
          <p:cNvPicPr preferRelativeResize="0"/>
          <p:nvPr/>
        </p:nvPicPr>
        <p:blipFill>
          <a:blip r:embed="rId4">
            <a:alphaModFix/>
          </a:blip>
          <a:stretch>
            <a:fillRect/>
          </a:stretch>
        </p:blipFill>
        <p:spPr>
          <a:xfrm>
            <a:off x="734050" y="1553263"/>
            <a:ext cx="1905000" cy="1905000"/>
          </a:xfrm>
          <a:prstGeom prst="rect">
            <a:avLst/>
          </a:prstGeom>
          <a:noFill/>
          <a:ln>
            <a:noFill/>
          </a:ln>
        </p:spPr>
      </p:pic>
      <p:sp>
        <p:nvSpPr>
          <p:cNvPr id="204" name="Google Shape;204;p11"/>
          <p:cNvSpPr txBox="1"/>
          <p:nvPr/>
        </p:nvSpPr>
        <p:spPr>
          <a:xfrm>
            <a:off x="827850" y="4275825"/>
            <a:ext cx="6837000" cy="1323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s-MX" sz="1600">
                <a:solidFill>
                  <a:schemeClr val="dk1"/>
                </a:solidFill>
                <a:latin typeface="Work Sans Light"/>
                <a:ea typeface="Work Sans Light"/>
                <a:cs typeface="Work Sans Light"/>
                <a:sym typeface="Work Sans Light"/>
              </a:rPr>
              <a:t>El aplicativo está siendo realizado bajo el patrón arquitectónico MVC (modelo vista controlador), usando como lenguaje de programación JAVA (JDK 21), Se usa React (React 19.1) como framework para el frontend del</a:t>
            </a:r>
            <a:r>
              <a:rPr lang="es-MX" sz="1600">
                <a:solidFill>
                  <a:schemeClr val="dk1"/>
                </a:solidFill>
                <a:latin typeface="Work Sans Light"/>
                <a:ea typeface="Work Sans Light"/>
                <a:cs typeface="Work Sans Light"/>
                <a:sym typeface="Work Sans Light"/>
              </a:rPr>
              <a:t> aplicativo, (SPRINGBOOT 3.5.5) , (</a:t>
            </a:r>
            <a:r>
              <a:rPr lang="es-MX" sz="1600" u="sng">
                <a:solidFill>
                  <a:schemeClr val="hlink"/>
                </a:solidFill>
                <a:latin typeface="Work Sans Light"/>
                <a:ea typeface="Work Sans Light"/>
                <a:cs typeface="Work Sans Light"/>
                <a:sym typeface="Work Sans Light"/>
                <a:hlinkClick r:id="rId5"/>
              </a:rPr>
              <a:t>NODE.JS</a:t>
            </a:r>
            <a:r>
              <a:rPr lang="es-MX" sz="1600">
                <a:solidFill>
                  <a:schemeClr val="dk1"/>
                </a:solidFill>
                <a:latin typeface="Work Sans Light"/>
                <a:ea typeface="Work Sans Light"/>
                <a:cs typeface="Work Sans Light"/>
                <a:sym typeface="Work Sans Light"/>
              </a:rPr>
              <a:t> 22.18.0) Y (NPM 10.9.3)</a:t>
            </a:r>
            <a:endParaRPr/>
          </a:p>
        </p:txBody>
      </p:sp>
      <p:pic>
        <p:nvPicPr>
          <p:cNvPr id="205" name="Google Shape;205;p11"/>
          <p:cNvPicPr preferRelativeResize="0"/>
          <p:nvPr/>
        </p:nvPicPr>
        <p:blipFill>
          <a:blip r:embed="rId6">
            <a:alphaModFix/>
          </a:blip>
          <a:stretch>
            <a:fillRect/>
          </a:stretch>
        </p:blipFill>
        <p:spPr>
          <a:xfrm>
            <a:off x="8189000" y="3794178"/>
            <a:ext cx="3472425" cy="2040600"/>
          </a:xfrm>
          <a:prstGeom prst="rect">
            <a:avLst/>
          </a:prstGeom>
          <a:noFill/>
          <a:ln>
            <a:noFill/>
          </a:ln>
        </p:spPr>
      </p:pic>
      <p:pic>
        <p:nvPicPr>
          <p:cNvPr id="206" name="Google Shape;206;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7" name="Google Shape;207;p11" title="Imagen_de_WhatsApp_2025-07-31_a_las_13.28.26_244e58d2-removebg-preview (1).png"/>
          <p:cNvPicPr preferRelativeResize="0"/>
          <p:nvPr/>
        </p:nvPicPr>
        <p:blipFill>
          <a:blip r:embed="rId7">
            <a:alphaModFix/>
          </a:blip>
          <a:stretch>
            <a:fillRect/>
          </a:stretch>
        </p:blipFill>
        <p:spPr>
          <a:xfrm>
            <a:off x="8050550" y="-4800"/>
            <a:ext cx="1556100" cy="1556100"/>
          </a:xfrm>
          <a:prstGeom prst="rect">
            <a:avLst/>
          </a:prstGeom>
          <a:noFill/>
          <a:ln>
            <a:noFill/>
          </a:ln>
        </p:spPr>
      </p:pic>
      <p:pic>
        <p:nvPicPr>
          <p:cNvPr id="208" name="Google Shape;208;p11"/>
          <p:cNvPicPr preferRelativeResize="0"/>
          <p:nvPr/>
        </p:nvPicPr>
        <p:blipFill>
          <a:blip r:embed="rId8">
            <a:alphaModFix/>
          </a:blip>
          <a:stretch>
            <a:fillRect/>
          </a:stretch>
        </p:blipFill>
        <p:spPr>
          <a:xfrm>
            <a:off x="7856550" y="164715"/>
            <a:ext cx="1521350" cy="121707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14"/>
          <p:cNvSpPr txBox="1"/>
          <p:nvPr>
            <p:ph type="title"/>
          </p:nvPr>
        </p:nvSpPr>
        <p:spPr>
          <a:xfrm>
            <a:off x="456236" y="110481"/>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15" name="Google Shape;215;p14"/>
          <p:cNvSpPr/>
          <p:nvPr/>
        </p:nvSpPr>
        <p:spPr>
          <a:xfrm>
            <a:off x="579652" y="1787235"/>
            <a:ext cx="972000" cy="456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6" name="Google Shape;216;p14"/>
          <p:cNvSpPr txBox="1"/>
          <p:nvPr/>
        </p:nvSpPr>
        <p:spPr>
          <a:xfrm>
            <a:off x="456213" y="1926673"/>
            <a:ext cx="3854400" cy="4186800"/>
          </a:xfrm>
          <a:prstGeom prst="rect">
            <a:avLst/>
          </a:prstGeom>
          <a:noFill/>
          <a:ln>
            <a:noFill/>
          </a:ln>
        </p:spPr>
        <p:txBody>
          <a:bodyPr anchorCtr="0" anchor="t" bIns="45700" lIns="91425" spcFirstLastPara="1" rIns="91425" wrap="square" tIns="45700">
            <a:spAutoFit/>
          </a:bodyPr>
          <a:lstStyle/>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Nombre proyecto - Objetivo general - Objetivos especí­ficos - Planteamiento del problema y pregunta problema - Alcance del proyecto - Justificación</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BPMN del proceso de negocio, no del aplicativo a desarrollar)</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Técnicas de recolección de información y análisis de resultados estadística descriptiva </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Estándar IEEE Std 830-1998, IEEE 1233-1998, IEEE 29148:2018.</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casos de uso y documentación de casos de uso (formato de casos de uso extendido).</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Validación de requerimientos (Realización de un prototipo usando mockups o wireframes)</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Fichas técnicas. </a:t>
            </a:r>
            <a:endParaRPr>
              <a:solidFill>
                <a:schemeClr val="dk1"/>
              </a:solidFill>
              <a:latin typeface="Work Sans Light"/>
              <a:ea typeface="Work Sans Light"/>
              <a:cs typeface="Work Sans Light"/>
              <a:sym typeface="Work Sans Light"/>
            </a:endParaRPr>
          </a:p>
          <a:p>
            <a:pPr indent="0" lvl="0" marL="0" marR="0" rtl="0" algn="l">
              <a:spcBef>
                <a:spcPts val="0"/>
              </a:spcBef>
              <a:spcAft>
                <a:spcPts val="0"/>
              </a:spcAft>
              <a:buNone/>
            </a:pPr>
            <a:r>
              <a:t/>
            </a:r>
            <a:endParaRPr>
              <a:solidFill>
                <a:schemeClr val="dk1"/>
              </a:solidFill>
              <a:latin typeface="Work Sans Light"/>
              <a:ea typeface="Work Sans Light"/>
              <a:cs typeface="Work Sans Light"/>
              <a:sym typeface="Work Sans Light"/>
            </a:endParaRPr>
          </a:p>
        </p:txBody>
      </p:sp>
      <p:grpSp>
        <p:nvGrpSpPr>
          <p:cNvPr id="217" name="Google Shape;217;p14"/>
          <p:cNvGrpSpPr/>
          <p:nvPr/>
        </p:nvGrpSpPr>
        <p:grpSpPr>
          <a:xfrm>
            <a:off x="518475" y="1483910"/>
            <a:ext cx="3239100" cy="294480"/>
            <a:chOff x="126603" y="-1251822"/>
            <a:chExt cx="3239100" cy="2796582"/>
          </a:xfrm>
        </p:grpSpPr>
        <p:sp>
          <p:nvSpPr>
            <p:cNvPr id="218" name="Google Shape;218;p14"/>
            <p:cNvSpPr/>
            <p:nvPr/>
          </p:nvSpPr>
          <p:spPr>
            <a:xfrm>
              <a:off x="922388" y="1499160"/>
              <a:ext cx="972000" cy="456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9" name="Google Shape;219;p14"/>
            <p:cNvSpPr txBox="1"/>
            <p:nvPr/>
          </p:nvSpPr>
          <p:spPr>
            <a:xfrm>
              <a:off x="126603" y="-1251822"/>
              <a:ext cx="3239100" cy="2946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1800"/>
                <a:buFont typeface="Work Sans Light"/>
                <a:buNone/>
              </a:pPr>
              <a:r>
                <a:rPr b="1" lang="es-MX" sz="1800">
                  <a:solidFill>
                    <a:srgbClr val="38AA00"/>
                  </a:solidFill>
                  <a:latin typeface="Work Sans Light"/>
                  <a:ea typeface="Work Sans Light"/>
                  <a:cs typeface="Work Sans Light"/>
                  <a:sym typeface="Work Sans Light"/>
                </a:rPr>
                <a:t>Segundo Trimestre</a:t>
              </a:r>
              <a:endParaRPr/>
            </a:p>
          </p:txBody>
        </p:sp>
      </p:grpSp>
      <p:grpSp>
        <p:nvGrpSpPr>
          <p:cNvPr id="220" name="Google Shape;220;p14"/>
          <p:cNvGrpSpPr/>
          <p:nvPr/>
        </p:nvGrpSpPr>
        <p:grpSpPr>
          <a:xfrm>
            <a:off x="5250780" y="1586425"/>
            <a:ext cx="3328015" cy="447313"/>
            <a:chOff x="781688" y="1395228"/>
            <a:chExt cx="3328015" cy="447313"/>
          </a:xfrm>
        </p:grpSpPr>
        <p:sp>
          <p:nvSpPr>
            <p:cNvPr id="221" name="Google Shape;221;p14"/>
            <p:cNvSpPr/>
            <p:nvPr/>
          </p:nvSpPr>
          <p:spPr>
            <a:xfrm>
              <a:off x="781688" y="1796822"/>
              <a:ext cx="971956" cy="45719"/>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2" name="Google Shape;222;p14"/>
            <p:cNvSpPr txBox="1"/>
            <p:nvPr/>
          </p:nvSpPr>
          <p:spPr>
            <a:xfrm>
              <a:off x="870603" y="1395228"/>
              <a:ext cx="3239100" cy="2946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1800"/>
                <a:buFont typeface="Work Sans Light"/>
                <a:buNone/>
              </a:pPr>
              <a:r>
                <a:rPr b="1" lang="es-MX" sz="1800">
                  <a:solidFill>
                    <a:srgbClr val="38AA00"/>
                  </a:solidFill>
                  <a:latin typeface="Work Sans Light"/>
                  <a:ea typeface="Work Sans Light"/>
                  <a:cs typeface="Work Sans Light"/>
                  <a:sym typeface="Work Sans Light"/>
                </a:rPr>
                <a:t>Tercer Trimestre</a:t>
              </a:r>
              <a:endParaRPr/>
            </a:p>
          </p:txBody>
        </p:sp>
      </p:grpSp>
      <p:sp>
        <p:nvSpPr>
          <p:cNvPr id="223" name="Google Shape;223;p14"/>
          <p:cNvSpPr txBox="1"/>
          <p:nvPr/>
        </p:nvSpPr>
        <p:spPr>
          <a:xfrm>
            <a:off x="5220433" y="2184131"/>
            <a:ext cx="3854400" cy="2247300"/>
          </a:xfrm>
          <a:prstGeom prst="rect">
            <a:avLst/>
          </a:prstGeom>
          <a:noFill/>
          <a:ln>
            <a:noFill/>
          </a:ln>
        </p:spPr>
        <p:txBody>
          <a:bodyPr anchorCtr="0" anchor="t" bIns="45700" lIns="91425" spcFirstLastPara="1" rIns="91425" wrap="square" tIns="45700">
            <a:spAutoFit/>
          </a:bodyPr>
          <a:lstStyle/>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Modelo relacional notación crows foot</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identificando las 3FN</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 el proyecto se evidencia el diccionario de datos</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clases.</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distribución.</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Prototipo navegable del software (Html - CSS)</a:t>
            </a:r>
            <a:endParaRPr>
              <a:solidFill>
                <a:schemeClr val="dk1"/>
              </a:solidFill>
              <a:latin typeface="Work Sans Light"/>
              <a:ea typeface="Work Sans Light"/>
              <a:cs typeface="Work Sans Light"/>
              <a:sym typeface="Work Sans Light"/>
            </a:endParaRPr>
          </a:p>
          <a:p>
            <a:pPr indent="0" lvl="0" marL="457200" marR="0" rtl="0" algn="l">
              <a:spcBef>
                <a:spcPts val="0"/>
              </a:spcBef>
              <a:spcAft>
                <a:spcPts val="0"/>
              </a:spcAft>
              <a:buNone/>
            </a:pPr>
            <a:r>
              <a:t/>
            </a:r>
            <a:endParaRPr>
              <a:solidFill>
                <a:schemeClr val="dk1"/>
              </a:solidFill>
              <a:latin typeface="Work Sans Light"/>
              <a:ea typeface="Work Sans Light"/>
              <a:cs typeface="Work Sans Light"/>
              <a:sym typeface="Work Sans Light"/>
            </a:endParaRPr>
          </a:p>
        </p:txBody>
      </p:sp>
      <p:grpSp>
        <p:nvGrpSpPr>
          <p:cNvPr id="224" name="Google Shape;224;p14"/>
          <p:cNvGrpSpPr/>
          <p:nvPr/>
        </p:nvGrpSpPr>
        <p:grpSpPr>
          <a:xfrm>
            <a:off x="5155290" y="4318019"/>
            <a:ext cx="3379040" cy="463794"/>
            <a:chOff x="846638" y="-350472"/>
            <a:chExt cx="3379040" cy="463794"/>
          </a:xfrm>
        </p:grpSpPr>
        <p:sp>
          <p:nvSpPr>
            <p:cNvPr id="225" name="Google Shape;225;p14"/>
            <p:cNvSpPr/>
            <p:nvPr/>
          </p:nvSpPr>
          <p:spPr>
            <a:xfrm>
              <a:off x="846638" y="67722"/>
              <a:ext cx="972000" cy="456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6" name="Google Shape;226;p14"/>
            <p:cNvSpPr txBox="1"/>
            <p:nvPr/>
          </p:nvSpPr>
          <p:spPr>
            <a:xfrm>
              <a:off x="986578" y="-350472"/>
              <a:ext cx="3239100" cy="2946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1800"/>
                <a:buFont typeface="Work Sans Light"/>
                <a:buNone/>
              </a:pPr>
              <a:r>
                <a:rPr b="1" lang="es-MX" sz="1800">
                  <a:solidFill>
                    <a:srgbClr val="38AA00"/>
                  </a:solidFill>
                  <a:latin typeface="Work Sans Light"/>
                  <a:ea typeface="Work Sans Light"/>
                  <a:cs typeface="Work Sans Light"/>
                  <a:sym typeface="Work Sans Light"/>
                </a:rPr>
                <a:t>Cuarto Trimestre</a:t>
              </a:r>
              <a:endParaRPr/>
            </a:p>
          </p:txBody>
        </p:sp>
      </p:grpSp>
      <p:sp>
        <p:nvSpPr>
          <p:cNvPr id="227" name="Google Shape;227;p14"/>
          <p:cNvSpPr txBox="1"/>
          <p:nvPr/>
        </p:nvSpPr>
        <p:spPr>
          <a:xfrm>
            <a:off x="5220430" y="4781825"/>
            <a:ext cx="4941900" cy="1385400"/>
          </a:xfrm>
          <a:prstGeom prst="rect">
            <a:avLst/>
          </a:prstGeom>
          <a:noFill/>
          <a:ln>
            <a:noFill/>
          </a:ln>
        </p:spPr>
        <p:txBody>
          <a:bodyPr anchorCtr="0" anchor="t" bIns="45700" lIns="91425" spcFirstLastPara="1" rIns="91425" wrap="square" tIns="45700">
            <a:spAutoFit/>
          </a:bodyPr>
          <a:lstStyle/>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 construcción de la base de datos usando sentencias DDL (SQL)</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U</a:t>
            </a:r>
            <a:r>
              <a:rPr lang="es-MX">
                <a:solidFill>
                  <a:schemeClr val="dk1"/>
                </a:solidFill>
                <a:latin typeface="Work Sans Light"/>
                <a:ea typeface="Work Sans Light"/>
                <a:cs typeface="Work Sans Light"/>
                <a:sym typeface="Work Sans Light"/>
              </a:rPr>
              <a:t>so de la </a:t>
            </a:r>
            <a:r>
              <a:rPr lang="es-MX">
                <a:solidFill>
                  <a:schemeClr val="dk1"/>
                </a:solidFill>
                <a:latin typeface="Work Sans Light"/>
                <a:ea typeface="Work Sans Light"/>
                <a:cs typeface="Work Sans Light"/>
                <a:sym typeface="Work Sans Light"/>
              </a:rPr>
              <a:t>base de datos</a:t>
            </a:r>
            <a:r>
              <a:rPr lang="es-MX">
                <a:solidFill>
                  <a:schemeClr val="dk1"/>
                </a:solidFill>
                <a:latin typeface="Work Sans Light"/>
                <a:ea typeface="Work Sans Light"/>
                <a:cs typeface="Work Sans Light"/>
                <a:sym typeface="Work Sans Light"/>
              </a:rPr>
              <a:t> a través de sentencias DML (SQL),</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Base de Datos con </a:t>
            </a:r>
            <a:r>
              <a:rPr lang="es-MX">
                <a:solidFill>
                  <a:schemeClr val="dk1"/>
                </a:solidFill>
                <a:latin typeface="Work Sans Light"/>
                <a:ea typeface="Work Sans Light"/>
                <a:cs typeface="Work Sans Light"/>
                <a:sym typeface="Work Sans Light"/>
              </a:rPr>
              <a:t>encriptación</a:t>
            </a:r>
            <a:r>
              <a:rPr lang="es-MX">
                <a:solidFill>
                  <a:schemeClr val="dk1"/>
                </a:solidFill>
                <a:latin typeface="Work Sans Light"/>
                <a:ea typeface="Work Sans Light"/>
                <a:cs typeface="Work Sans Light"/>
                <a:sym typeface="Work Sans Light"/>
              </a:rPr>
              <a:t>.</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FrontEnd Funcional utilizando Framework </a:t>
            </a:r>
            <a:endParaRPr>
              <a:solidFill>
                <a:schemeClr val="dk1"/>
              </a:solidFill>
              <a:latin typeface="Work Sans Light"/>
              <a:ea typeface="Work Sans Light"/>
              <a:cs typeface="Work Sans Light"/>
              <a:sym typeface="Work Sans Light"/>
            </a:endParaRPr>
          </a:p>
        </p:txBody>
      </p:sp>
      <p:pic>
        <p:nvPicPr>
          <p:cNvPr id="228" name="Google Shape;228;p14"/>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29" name="Google Shape;229;p14" title="Imagen_de_WhatsApp_2025-07-31_a_las_13.28.26_244e58d2-removebg-preview (1).png"/>
          <p:cNvPicPr preferRelativeResize="0"/>
          <p:nvPr/>
        </p:nvPicPr>
        <p:blipFill>
          <a:blip r:embed="rId4">
            <a:alphaModFix/>
          </a:blip>
          <a:stretch>
            <a:fillRect/>
          </a:stretch>
        </p:blipFill>
        <p:spPr>
          <a:xfrm>
            <a:off x="8050550" y="-4800"/>
            <a:ext cx="1556100" cy="1556100"/>
          </a:xfrm>
          <a:prstGeom prst="rect">
            <a:avLst/>
          </a:prstGeom>
          <a:noFill/>
          <a:ln>
            <a:noFill/>
          </a:ln>
        </p:spPr>
      </p:pic>
      <p:pic>
        <p:nvPicPr>
          <p:cNvPr id="230" name="Google Shape;230;p14"/>
          <p:cNvPicPr preferRelativeResize="0"/>
          <p:nvPr/>
        </p:nvPicPr>
        <p:blipFill>
          <a:blip r:embed="rId5">
            <a:alphaModFix/>
          </a:blip>
          <a:stretch>
            <a:fillRect/>
          </a:stretch>
        </p:blipFill>
        <p:spPr>
          <a:xfrm>
            <a:off x="7856550" y="164715"/>
            <a:ext cx="1521350" cy="121707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g348fab2c6ef_1_9"/>
          <p:cNvSpPr txBox="1"/>
          <p:nvPr>
            <p:ph type="title"/>
          </p:nvPr>
        </p:nvSpPr>
        <p:spPr>
          <a:xfrm>
            <a:off x="456236" y="110481"/>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37" name="Google Shape;237;g348fab2c6ef_1_9"/>
          <p:cNvSpPr/>
          <p:nvPr/>
        </p:nvSpPr>
        <p:spPr>
          <a:xfrm>
            <a:off x="579652" y="1787235"/>
            <a:ext cx="972000" cy="456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38" name="Google Shape;238;g348fab2c6ef_1_9"/>
          <p:cNvSpPr txBox="1"/>
          <p:nvPr/>
        </p:nvSpPr>
        <p:spPr>
          <a:xfrm>
            <a:off x="456213" y="1926673"/>
            <a:ext cx="3854400" cy="2247300"/>
          </a:xfrm>
          <a:prstGeom prst="rect">
            <a:avLst/>
          </a:prstGeom>
          <a:noFill/>
          <a:ln>
            <a:noFill/>
          </a:ln>
        </p:spPr>
        <p:txBody>
          <a:bodyPr anchorCtr="0" anchor="t" bIns="45700" lIns="91425" spcFirstLastPara="1" rIns="91425" wrap="square" tIns="45700">
            <a:spAutoFit/>
          </a:bodyPr>
          <a:lstStyle/>
          <a:p>
            <a:pPr indent="-317500" lvl="0" marL="457200" rtl="0" algn="l">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Las API REST de la solución sotware incluye seguridad</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El front_end web de la solución software está hecha en Angular, Vue.js, React (u otro), consume la API REST y tiene un avance del 80%</a:t>
            </a:r>
            <a:endParaRPr>
              <a:solidFill>
                <a:schemeClr val="dk1"/>
              </a:solidFill>
              <a:latin typeface="Work Sans Light"/>
              <a:ea typeface="Work Sans Light"/>
              <a:cs typeface="Work Sans Light"/>
              <a:sym typeface="Work Sans Light"/>
            </a:endParaRPr>
          </a:p>
          <a:p>
            <a:pPr indent="-317500" lvl="0" marL="457200" rtl="0" algn="l">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Las entregas del trimestre de la solución software se hacen a través de un Sistema de Control de Versiones (SCV)</a:t>
            </a:r>
            <a:endParaRPr>
              <a:solidFill>
                <a:schemeClr val="dk1"/>
              </a:solidFill>
              <a:latin typeface="Work Sans Light"/>
              <a:ea typeface="Work Sans Light"/>
              <a:cs typeface="Work Sans Light"/>
              <a:sym typeface="Work Sans Light"/>
            </a:endParaRPr>
          </a:p>
        </p:txBody>
      </p:sp>
      <p:grpSp>
        <p:nvGrpSpPr>
          <p:cNvPr id="239" name="Google Shape;239;g348fab2c6ef_1_9"/>
          <p:cNvGrpSpPr/>
          <p:nvPr/>
        </p:nvGrpSpPr>
        <p:grpSpPr>
          <a:xfrm>
            <a:off x="518475" y="1483910"/>
            <a:ext cx="3239100" cy="294480"/>
            <a:chOff x="126603" y="-1251822"/>
            <a:chExt cx="3239100" cy="2796582"/>
          </a:xfrm>
        </p:grpSpPr>
        <p:sp>
          <p:nvSpPr>
            <p:cNvPr id="240" name="Google Shape;240;g348fab2c6ef_1_9"/>
            <p:cNvSpPr/>
            <p:nvPr/>
          </p:nvSpPr>
          <p:spPr>
            <a:xfrm>
              <a:off x="922388" y="1499160"/>
              <a:ext cx="972000" cy="45600"/>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1" name="Google Shape;241;g348fab2c6ef_1_9"/>
            <p:cNvSpPr txBox="1"/>
            <p:nvPr/>
          </p:nvSpPr>
          <p:spPr>
            <a:xfrm>
              <a:off x="126603" y="-1251822"/>
              <a:ext cx="3239100" cy="2946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1800"/>
                <a:buFont typeface="Work Sans Light"/>
                <a:buNone/>
              </a:pPr>
              <a:r>
                <a:rPr b="1" lang="es-MX" sz="1800">
                  <a:solidFill>
                    <a:srgbClr val="38AA00"/>
                  </a:solidFill>
                  <a:latin typeface="Work Sans Light"/>
                  <a:ea typeface="Work Sans Light"/>
                  <a:cs typeface="Work Sans Light"/>
                  <a:sym typeface="Work Sans Light"/>
                </a:rPr>
                <a:t>Quinto </a:t>
              </a:r>
              <a:r>
                <a:rPr b="1" lang="es-MX" sz="1800">
                  <a:solidFill>
                    <a:srgbClr val="38AA00"/>
                  </a:solidFill>
                  <a:latin typeface="Work Sans Light"/>
                  <a:ea typeface="Work Sans Light"/>
                  <a:cs typeface="Work Sans Light"/>
                  <a:sym typeface="Work Sans Light"/>
                </a:rPr>
                <a:t>Trimestre</a:t>
              </a:r>
              <a:endParaRPr/>
            </a:p>
          </p:txBody>
        </p:sp>
      </p:gr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43" name="Google Shape;243;g348fab2c6ef_1_9" title="Imagen_de_WhatsApp_2025-07-31_a_las_13.28.26_244e58d2-removebg-preview (1).png"/>
          <p:cNvPicPr preferRelativeResize="0"/>
          <p:nvPr/>
        </p:nvPicPr>
        <p:blipFill>
          <a:blip r:embed="rId4">
            <a:alphaModFix/>
          </a:blip>
          <a:stretch>
            <a:fillRect/>
          </a:stretch>
        </p:blipFill>
        <p:spPr>
          <a:xfrm>
            <a:off x="8050550" y="-4800"/>
            <a:ext cx="1556100" cy="1556100"/>
          </a:xfrm>
          <a:prstGeom prst="rect">
            <a:avLst/>
          </a:prstGeom>
          <a:noFill/>
          <a:ln>
            <a:noFill/>
          </a:ln>
        </p:spPr>
      </p:pic>
      <p:pic>
        <p:nvPicPr>
          <p:cNvPr id="244" name="Google Shape;244;g348fab2c6ef_1_9"/>
          <p:cNvPicPr preferRelativeResize="0"/>
          <p:nvPr/>
        </p:nvPicPr>
        <p:blipFill>
          <a:blip r:embed="rId5">
            <a:alphaModFix/>
          </a:blip>
          <a:stretch>
            <a:fillRect/>
          </a:stretch>
        </p:blipFill>
        <p:spPr>
          <a:xfrm>
            <a:off x="7856550" y="164715"/>
            <a:ext cx="1521350" cy="1217076"/>
          </a:xfrm>
          <a:prstGeom prst="rect">
            <a:avLst/>
          </a:prstGeom>
          <a:noFill/>
          <a:ln>
            <a:noFill/>
          </a:ln>
        </p:spPr>
      </p:pic>
      <p:graphicFrame>
        <p:nvGraphicFramePr>
          <p:cNvPr id="245" name="Google Shape;245;g348fab2c6ef_1_9"/>
          <p:cNvGraphicFramePr/>
          <p:nvPr/>
        </p:nvGraphicFramePr>
        <p:xfrm>
          <a:off x="152400" y="152400"/>
          <a:ext cx="3000000" cy="3000000"/>
        </p:xfrm>
        <a:graphic>
          <a:graphicData uri="http://schemas.openxmlformats.org/drawingml/2006/table">
            <a:tbl>
              <a:tblPr>
                <a:noFill/>
                <a:tableStyleId>{410B6C16-105A-48B9-B28C-AD33A7352A04}</a:tableStyleId>
              </a:tblPr>
              <a:tblGrid>
                <a:gridCol w="314325"/>
                <a:gridCol w="304800"/>
                <a:gridCol w="10191750"/>
                <a:gridCol w="590550"/>
                <a:gridCol w="790575"/>
              </a:tblGrid>
              <a:tr h="342900">
                <a:tc>
                  <a:txBody>
                    <a:bodyPr/>
                    <a:lstStyle/>
                    <a:p>
                      <a:pPr indent="0" lvl="0" marL="0" marR="533400" rtl="0" algn="l">
                        <a:lnSpc>
                          <a:spcPct val="115000"/>
                        </a:lnSpc>
                        <a:spcBef>
                          <a:spcPts val="100"/>
                        </a:spcBef>
                        <a:spcAft>
                          <a:spcPts val="0"/>
                        </a:spcAft>
                        <a:buNone/>
                      </a:pPr>
                      <a:r>
                        <a:rPr lang="es-MX" sz="1000">
                          <a:highlight>
                            <a:srgbClr val="F9FBFD"/>
                          </a:highlight>
                          <a:latin typeface="Roboto"/>
                          <a:ea typeface="Roboto"/>
                          <a:cs typeface="Roboto"/>
                          <a:sym typeface="Roboto"/>
                        </a:rPr>
                        <a:t> </a:t>
                      </a:r>
                      <a:endParaRPr sz="1000">
                        <a:highlight>
                          <a:srgbClr val="F9FBFD"/>
                        </a:highlight>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nchor="b"/>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descr="Imagen que contiene Interfaz de usuario gráfica&#10;&#10;Descripción generada automáticamente" id="250" name="Google Shape;250;p15"/>
          <p:cNvPicPr preferRelativeResize="0"/>
          <p:nvPr/>
        </p:nvPicPr>
        <p:blipFill rotWithShape="1">
          <a:blip r:embed="rId3">
            <a:alphaModFix/>
          </a:blip>
          <a:srcRect b="0" l="0" r="0" t="0"/>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2020-10-01T23:51:28Z</dcterms:created>
  <dc:creator>Jorge Enrique Pedraza Sanchez</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